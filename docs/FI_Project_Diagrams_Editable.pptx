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1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Six-layer architecture: Mobile Web App → FastAPI → Session Conductor → AI Engine → Report →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1051560"/>
            <a:ext cx="3200400" cy="15544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565C0"/>
                </a:solidFill>
                <a:latin typeface="Calibri"/>
              </a:rPr>
              <a:t>Borrower</a:t>
            </a:r>
          </a:p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Mobile Web App</a:t>
            </a:r>
          </a:p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OTP  ·  Form</a:t>
            </a:r>
          </a:p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Camera  ·  Mic  · 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051560"/>
            <a:ext cx="3200400" cy="155448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FastAPI Server</a:t>
            </a:r>
          </a:p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(API Gateway)</a:t>
            </a:r>
          </a:p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WebSocket /fi/ws/</a:t>
            </a:r>
          </a:p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REST /fi/api/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1051560"/>
            <a:ext cx="3200400" cy="15544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65100"/>
                </a:solidFill>
                <a:latin typeface="Calibri"/>
              </a:rPr>
              <a:t>Session Conductor</a:t>
            </a:r>
          </a:p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Q&amp;A  ·  Photo prompts</a:t>
            </a:r>
          </a:p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Countdown  ·  PAN OCR</a:t>
            </a:r>
          </a:p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Consent flow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383280" y="1828800"/>
            <a:ext cx="109728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828800"/>
            <a:ext cx="109728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2880" y="2880360"/>
            <a:ext cx="6949440" cy="237744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880E4F"/>
                </a:solidFill>
                <a:latin typeface="Calibri"/>
              </a:rPr>
              <a:t>AI Analysis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3383280"/>
            <a:ext cx="1554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GPT-4o Vision</a:t>
            </a:r>
          </a:p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Photos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57400" y="3383280"/>
            <a:ext cx="1554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PAN OCR</a:t>
            </a:r>
          </a:p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Textract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94760" y="3383280"/>
            <a:ext cx="1554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Face Match</a:t>
            </a:r>
          </a:p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Rekognition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3383280"/>
            <a:ext cx="155448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STT / TTS</a:t>
            </a:r>
          </a:p>
          <a:p>
            <a:pPr algn="ctr"/>
            <a:r>
              <a:rPr sz="800" b="0">
                <a:solidFill>
                  <a:srgbClr val="880E4F"/>
                </a:solidFill>
                <a:latin typeface="Calibri"/>
              </a:rPr>
              <a:t>Transcribe / Polly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2880360"/>
            <a:ext cx="2103120" cy="23774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00695C"/>
                </a:solidFill>
                <a:latin typeface="Calibri"/>
              </a:rPr>
              <a:t>Report</a:t>
            </a:r>
          </a:p>
          <a:p>
            <a:pPr algn="ctr"/>
            <a:r>
              <a:rPr sz="900" b="0">
                <a:solidFill>
                  <a:srgbClr val="00695C"/>
                </a:solidFill>
                <a:latin typeface="Calibri"/>
              </a:rPr>
              <a:t>Generator</a:t>
            </a:r>
          </a:p>
          <a:p>
            <a:pPr algn="ctr"/>
            <a:r>
              <a:rPr sz="900" b="0">
                <a:solidFill>
                  <a:srgbClr val="00695C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00695C"/>
                </a:solidFill>
                <a:latin typeface="Calibri"/>
              </a:rPr>
              <a:t>CIBIL  ·  Credit Analysis</a:t>
            </a:r>
          </a:p>
          <a:p>
            <a:pPr algn="ctr"/>
            <a:r>
              <a:rPr sz="900" b="0">
                <a:solidFill>
                  <a:srgbClr val="00695C"/>
                </a:solidFill>
                <a:latin typeface="Calibri"/>
              </a:rPr>
              <a:t>ReportLab PDF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84080" y="2880360"/>
            <a:ext cx="2240280" cy="237744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6A1B9A"/>
                </a:solidFill>
                <a:latin typeface="Calibri"/>
              </a:rPr>
              <a:t>Storage &amp;</a:t>
            </a:r>
          </a:p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>Auditor Portal</a:t>
            </a:r>
          </a:p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/>
            </a:r>
          </a:p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>JSON  ·  Photos</a:t>
            </a:r>
          </a:p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>PDF Reports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3474720" y="1920240"/>
            <a:ext cx="2651760" cy="960120"/>
          </a:xfrm>
          <a:prstGeom prst="bentConnector3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132320" y="4069080"/>
            <a:ext cx="27432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509760" y="4069080"/>
            <a:ext cx="27432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3474720" y="2606040"/>
            <a:ext cx="6903720" cy="274320"/>
          </a:xfrm>
          <a:prstGeom prst="bentConnector3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0" y="5486400"/>
            <a:ext cx="1188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78909C"/>
                </a:solidFill>
                <a:latin typeface="Calibri"/>
              </a:rPr>
              <a:t>After session submit, the AI pipeline runs asynchronously — a failure in any step is logged and the remaining steps still execute.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2 — Application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Complete user journey: OTP Verification → Loan Form → FI Session → Q&amp;A → Photos → Submit →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" y="1051560"/>
            <a:ext cx="1463040" cy="411480"/>
          </a:xfrm>
          <a:prstGeom prst="ellipse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" y="1600200"/>
            <a:ext cx="32004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Open Mobile 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" y="2240280"/>
            <a:ext cx="32004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OTP Mobile Verification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" y="2880360"/>
            <a:ext cx="32004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Fill Loan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3520440"/>
            <a:ext cx="320040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Property Info (Type · Bedrooms · Hall)</a:t>
            </a:r>
          </a:p>
        </p:txBody>
      </p:sp>
      <p:sp>
        <p:nvSpPr>
          <p:cNvPr id="10" name="Diamond 9"/>
          <p:cNvSpPr/>
          <p:nvPr/>
        </p:nvSpPr>
        <p:spPr>
          <a:xfrm>
            <a:off x="320040" y="4206240"/>
            <a:ext cx="2743200" cy="73152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Review &amp;</a:t>
            </a:r>
          </a:p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Confirm?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1463040"/>
            <a:ext cx="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783080" y="2103120"/>
            <a:ext cx="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783080" y="2743200"/>
            <a:ext cx="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783080" y="3383280"/>
            <a:ext cx="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783080" y="4023360"/>
            <a:ext cx="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320040" y="2880360"/>
            <a:ext cx="0" cy="1691640"/>
          </a:xfrm>
          <a:prstGeom prst="bentConnector3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288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4336"/>
                </a:solidFill>
                <a:latin typeface="Calibri"/>
              </a:rPr>
              <a:t>No
(Edit)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1051560"/>
            <a:ext cx="38404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Start FI Session (WebSocket + GPS)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691640"/>
            <a:ext cx="384048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Ask Question via Voice (AWS Transcribe)</a:t>
            </a:r>
          </a:p>
        </p:txBody>
      </p:sp>
      <p:sp>
        <p:nvSpPr>
          <p:cNvPr id="20" name="Diamond 19"/>
          <p:cNvSpPr/>
          <p:nvPr/>
        </p:nvSpPr>
        <p:spPr>
          <a:xfrm>
            <a:off x="7132320" y="2377440"/>
            <a:ext cx="3474720" cy="68580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All Questions</a:t>
            </a:r>
          </a:p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Done?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3200400"/>
            <a:ext cx="384048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Guided Photo Capture (Signage→Hall→Kitchen→Bedrooms→Outside)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49440" y="3840480"/>
            <a:ext cx="384048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PAN Card (GPT-4o OCR + Face Match)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49440" y="4480560"/>
            <a:ext cx="384048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Bank Statement Consent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49440" y="5120640"/>
            <a:ext cx="3840480" cy="5029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80E4F"/>
                </a:solidFill>
                <a:latin typeface="Calibri"/>
              </a:rPr>
              <a:t>Submit Session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9440" y="5760720"/>
            <a:ext cx="384048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>AI Pipeline + Report Generation</a:t>
            </a:r>
          </a:p>
        </p:txBody>
      </p:sp>
      <p:sp>
        <p:nvSpPr>
          <p:cNvPr id="26" name="Oval 25"/>
          <p:cNvSpPr/>
          <p:nvPr/>
        </p:nvSpPr>
        <p:spPr>
          <a:xfrm>
            <a:off x="7955279" y="6492240"/>
            <a:ext cx="1828800" cy="411480"/>
          </a:xfrm>
          <a:prstGeom prst="ellipse">
            <a:avLst/>
          </a:prstGeom>
          <a:solidFill>
            <a:srgbClr val="1B5E20"/>
          </a:solidFill>
          <a:ln w="1905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869680.0" y="155448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869680.0" y="2194560"/>
            <a:ext cx="0.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69680.0" y="306324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869680.0" y="370332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869680.0" y="434340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869680.0" y="498348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869680.0" y="562356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869680.0" y="6263640"/>
            <a:ext cx="0.0" cy="22860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10607040" y="1691640"/>
            <a:ext cx="0" cy="1024128"/>
          </a:xfrm>
          <a:prstGeom prst="line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625328" y="2194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4336"/>
                </a:solidFill>
                <a:latin typeface="Calibri"/>
              </a:rPr>
              <a:t>No
(loop)</a:t>
            </a:r>
          </a:p>
        </p:txBody>
      </p:sp>
      <p:cxnSp>
        <p:nvCxnSpPr>
          <p:cNvPr id="37" name="Connector 36"/>
          <p:cNvCxnSpPr/>
          <p:nvPr/>
        </p:nvCxnSpPr>
        <p:spPr>
          <a:xfrm flipV="1">
            <a:off x="3063240" y="1298448"/>
            <a:ext cx="3886200" cy="3273552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4114800" y="4206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3 — Data Flow Diagram (Level 0 + Level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Context Diagram and Process Decomposition showing data flow from Borrower through the FI System to Lender/LOS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" y="36576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89320" y="1005840"/>
            <a:ext cx="27432" cy="5715000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0058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Calibri"/>
              </a:rPr>
              <a:t>Level 0 — Context Diagram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011680"/>
            <a:ext cx="1645920" cy="109728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565C0"/>
                </a:solidFill>
                <a:latin typeface="Calibri"/>
              </a:rPr>
              <a:t>Borrower</a:t>
            </a:r>
          </a:p>
        </p:txBody>
      </p:sp>
      <p:sp>
        <p:nvSpPr>
          <p:cNvPr id="9" name="Oval 8"/>
          <p:cNvSpPr/>
          <p:nvPr/>
        </p:nvSpPr>
        <p:spPr>
          <a:xfrm>
            <a:off x="2377440" y="1645920"/>
            <a:ext cx="1645920" cy="1645920"/>
          </a:xfrm>
          <a:prstGeom prst="ellipse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Digital FI</a:t>
            </a:r>
          </a:p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System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1280160" cy="109728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E65100"/>
                </a:solidFill>
                <a:latin typeface="Calibri"/>
              </a:rPr>
              <a:t>Lender / LOS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920240" y="2468880"/>
            <a:ext cx="457200" cy="9144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023360" y="2468880"/>
            <a:ext cx="548640" cy="9144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2880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1565C0"/>
                </a:solidFill>
                <a:latin typeface="Calibri"/>
              </a:rPr>
              <a:t>App data
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14884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>
                <a:solidFill>
                  <a:srgbClr val="E65100"/>
                </a:solidFill>
                <a:latin typeface="Calibri"/>
              </a:rPr>
              <a:t>FI Report
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246120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78909C"/>
                </a:solidFill>
                <a:latin typeface="Calibri"/>
              </a:rPr>
              <a:t>Borrower provides application details, answers and photos.
System processes them and delivers the FI report to the lender.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0058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A237E"/>
                </a:solidFill>
                <a:latin typeface="Calibri"/>
              </a:rPr>
              <a:t>Level 1 — Process Decomposition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1554480"/>
            <a:ext cx="1371600" cy="13716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1565C0"/>
                </a:solidFill>
                <a:latin typeface="Calibri"/>
              </a:rPr>
              <a:t>P1</a:t>
            </a:r>
          </a:p>
          <a:p>
            <a:pPr algn="ctr"/>
            <a:r>
              <a:rPr sz="750" b="0">
                <a:solidFill>
                  <a:srgbClr val="1565C0"/>
                </a:solidFill>
                <a:latin typeface="Calibri"/>
              </a:rPr>
              <a:t>Session</a:t>
            </a:r>
          </a:p>
          <a:p>
            <a:pPr algn="ctr"/>
            <a:r>
              <a:rPr sz="750" b="0">
                <a:solidFill>
                  <a:srgbClr val="1565C0"/>
                </a:solidFill>
                <a:latin typeface="Calibri"/>
              </a:rPr>
              <a:t>Setup</a:t>
            </a:r>
          </a:p>
        </p:txBody>
      </p:sp>
      <p:sp>
        <p:nvSpPr>
          <p:cNvPr id="18" name="Oval 17"/>
          <p:cNvSpPr/>
          <p:nvPr/>
        </p:nvSpPr>
        <p:spPr>
          <a:xfrm>
            <a:off x="9692640" y="1554480"/>
            <a:ext cx="1371600" cy="1371600"/>
          </a:xfrm>
          <a:prstGeom prst="ellipse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2E7D32"/>
                </a:solidFill>
                <a:latin typeface="Calibri"/>
              </a:rPr>
              <a:t>P2</a:t>
            </a:r>
          </a:p>
          <a:p>
            <a:pPr algn="ctr"/>
            <a:r>
              <a:rPr sz="750" b="0">
                <a:solidFill>
                  <a:srgbClr val="2E7D32"/>
                </a:solidFill>
                <a:latin typeface="Calibri"/>
              </a:rPr>
              <a:t>Guided</a:t>
            </a:r>
          </a:p>
          <a:p>
            <a:pPr algn="ctr"/>
            <a:r>
              <a:rPr sz="750" b="0">
                <a:solidFill>
                  <a:srgbClr val="2E7D32"/>
                </a:solidFill>
                <a:latin typeface="Calibri"/>
              </a:rPr>
              <a:t>Capture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0" y="3474720"/>
            <a:ext cx="1371600" cy="1371600"/>
          </a:xfrm>
          <a:prstGeom prst="ellipse">
            <a:avLst/>
          </a:prstGeom>
          <a:solidFill>
            <a:srgbClr val="FCE4EC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880E4F"/>
                </a:solidFill>
                <a:latin typeface="Calibri"/>
              </a:rPr>
              <a:t>P3</a:t>
            </a:r>
          </a:p>
          <a:p>
            <a:pPr algn="ctr"/>
            <a:r>
              <a:rPr sz="750" b="0">
                <a:solidFill>
                  <a:srgbClr val="880E4F"/>
                </a:solidFill>
                <a:latin typeface="Calibri"/>
              </a:rPr>
              <a:t>AI Analysis</a:t>
            </a:r>
          </a:p>
          <a:p>
            <a:pPr algn="ctr"/>
            <a:r>
              <a:rPr sz="750" b="0">
                <a:solidFill>
                  <a:srgbClr val="880E4F"/>
                </a:solidFill>
                <a:latin typeface="Calibri"/>
              </a:rPr>
              <a:t>Engine</a:t>
            </a:r>
          </a:p>
        </p:txBody>
      </p:sp>
      <p:sp>
        <p:nvSpPr>
          <p:cNvPr id="20" name="Oval 19"/>
          <p:cNvSpPr/>
          <p:nvPr/>
        </p:nvSpPr>
        <p:spPr>
          <a:xfrm>
            <a:off x="9692640" y="3474720"/>
            <a:ext cx="1371600" cy="1371600"/>
          </a:xfrm>
          <a:prstGeom prst="ellipse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E65100"/>
                </a:solidFill>
                <a:latin typeface="Calibri"/>
              </a:rPr>
              <a:t>P4</a:t>
            </a:r>
          </a:p>
          <a:p>
            <a:pPr algn="ctr"/>
            <a:r>
              <a:rPr sz="750" b="0">
                <a:solidFill>
                  <a:srgbClr val="E65100"/>
                </a:solidFill>
                <a:latin typeface="Calibri"/>
              </a:rPr>
              <a:t>Fraud</a:t>
            </a:r>
          </a:p>
          <a:p>
            <a:pPr algn="ctr"/>
            <a:r>
              <a:rPr sz="750" b="0">
                <a:solidFill>
                  <a:srgbClr val="E65100"/>
                </a:solidFill>
                <a:latin typeface="Calibri"/>
              </a:rPr>
              <a:t>Check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0" y="5212080"/>
            <a:ext cx="1371600" cy="1371600"/>
          </a:xfrm>
          <a:prstGeom prst="ellipse">
            <a:avLst/>
          </a:prstGeom>
          <a:solidFill>
            <a:srgbClr val="E0F2F1"/>
          </a:solidFill>
          <a:ln w="19050">
            <a:solidFill>
              <a:srgbClr val="006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00695C"/>
                </a:solidFill>
                <a:latin typeface="Calibri"/>
              </a:rPr>
              <a:t>P5</a:t>
            </a:r>
          </a:p>
          <a:p>
            <a:pPr algn="ctr"/>
            <a:r>
              <a:rPr sz="750" b="0">
                <a:solidFill>
                  <a:srgbClr val="00695C"/>
                </a:solidFill>
                <a:latin typeface="Calibri"/>
              </a:rPr>
              <a:t>Report</a:t>
            </a:r>
          </a:p>
          <a:p>
            <a:pPr algn="ctr"/>
            <a:r>
              <a:rPr sz="750" b="0">
                <a:solidFill>
                  <a:srgbClr val="00695C"/>
                </a:solidFill>
                <a:latin typeface="Calibri"/>
              </a:rPr>
              <a:t>Generator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2926080"/>
            <a:ext cx="1371600" cy="36576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>
                <a:solidFill>
                  <a:srgbClr val="37474F"/>
                </a:solidFill>
                <a:latin typeface="Calibri"/>
              </a:rPr>
              <a:t>D1 Session DB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92640" y="2926080"/>
            <a:ext cx="1371600" cy="36576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>
                <a:solidFill>
                  <a:srgbClr val="37474F"/>
                </a:solidFill>
                <a:latin typeface="Calibri"/>
              </a:rPr>
              <a:t>D2 Image Store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4846320"/>
            <a:ext cx="1371600" cy="36576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>
                <a:solidFill>
                  <a:srgbClr val="37474F"/>
                </a:solidFill>
                <a:latin typeface="Calibri"/>
              </a:rPr>
              <a:t>D3 AI Results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4846320"/>
            <a:ext cx="1371600" cy="365760"/>
          </a:xfrm>
          <a:prstGeom prst="rect">
            <a:avLst/>
          </a:prstGeom>
          <a:solidFill>
            <a:srgbClr val="ECEFF1"/>
          </a:solidFill>
          <a:ln w="1524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50">
                <a:solidFill>
                  <a:srgbClr val="37474F"/>
                </a:solidFill>
                <a:latin typeface="Calibri"/>
              </a:rPr>
              <a:t>D4 Report Store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543800" y="2926080"/>
            <a:ext cx="0" cy="3657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0378440" y="2926080"/>
            <a:ext cx="0" cy="3657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229600" y="2240280"/>
            <a:ext cx="146304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43800" y="3657600"/>
            <a:ext cx="0" cy="27432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378440" y="3657600"/>
            <a:ext cx="0" cy="27432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229600" y="4160520"/>
            <a:ext cx="146304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543800" y="4846320"/>
            <a:ext cx="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0378440" y="4160520"/>
            <a:ext cx="0" cy="8686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229600" y="5212080"/>
            <a:ext cx="68580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9601200" y="5212080"/>
            <a:ext cx="548640" cy="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126480" y="1051560"/>
            <a:ext cx="73152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50" b="1">
                <a:solidFill>
                  <a:srgbClr val="1565C0"/>
                </a:solidFill>
                <a:latin typeface="Calibri"/>
              </a:rPr>
              <a:t>Borrower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247120" y="5577840"/>
            <a:ext cx="822960" cy="4572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E65100"/>
                </a:solidFill>
                <a:latin typeface="Calibri"/>
              </a:rPr>
              <a:t>LOS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492240" y="1298448"/>
            <a:ext cx="365760" cy="713232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601200" y="5669280"/>
            <a:ext cx="164592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4 — Activity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Execution flow with decision gates for form validation, question loop and photo capture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1051560"/>
            <a:ext cx="914400" cy="45720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691640"/>
            <a:ext cx="512064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Open Mobile Web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331720"/>
            <a:ext cx="512064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Verify Mobile OTP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971800"/>
            <a:ext cx="512064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Fill Loan Application Form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611880"/>
            <a:ext cx="5120640" cy="50292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1565C0"/>
                </a:solidFill>
                <a:latin typeface="Calibri"/>
              </a:rPr>
              <a:t>Add Property Info  (Type · Bedrooms · Hall)</a:t>
            </a:r>
          </a:p>
        </p:txBody>
      </p:sp>
      <p:sp>
        <p:nvSpPr>
          <p:cNvPr id="10" name="Diamond 9"/>
          <p:cNvSpPr/>
          <p:nvPr/>
        </p:nvSpPr>
        <p:spPr>
          <a:xfrm>
            <a:off x="502920" y="4343400"/>
            <a:ext cx="4572000" cy="73152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Form Complete?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5257800"/>
            <a:ext cx="512064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Create FI Session  (WebSocket + GPS lock)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5897880"/>
            <a:ext cx="5120640" cy="50292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Display Question Prompt  →  Record Voice Answer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60320" y="1508760"/>
            <a:ext cx="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834640.0" y="219456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.0" y="283464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34640.0" y="347472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34640.0" y="4114800"/>
            <a:ext cx="0.0" cy="22860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88920.0" y="5074920"/>
            <a:ext cx="0.0" cy="18288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34640.0" y="576072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02920" y="2971800"/>
            <a:ext cx="0" cy="1737360"/>
          </a:xfrm>
          <a:prstGeom prst="line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8288" y="374903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4336"/>
                </a:solidFill>
                <a:latin typeface="Calibri"/>
              </a:rPr>
              <a:t>No
(Edit)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06040" y="4892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  <p:sp>
        <p:nvSpPr>
          <p:cNvPr id="23" name="Diamond 22"/>
          <p:cNvSpPr/>
          <p:nvPr/>
        </p:nvSpPr>
        <p:spPr>
          <a:xfrm>
            <a:off x="6400800" y="1051560"/>
            <a:ext cx="5120640" cy="50292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All Questions Done?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874519"/>
            <a:ext cx="512064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Display Photo Prompt  →  Capture Photo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2514600"/>
            <a:ext cx="512064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Review Photo  →  Save or Retake</a:t>
            </a:r>
          </a:p>
        </p:txBody>
      </p:sp>
      <p:sp>
        <p:nvSpPr>
          <p:cNvPr id="26" name="Diamond 25"/>
          <p:cNvSpPr/>
          <p:nvPr/>
        </p:nvSpPr>
        <p:spPr>
          <a:xfrm>
            <a:off x="6400800" y="3154680"/>
            <a:ext cx="5120640" cy="502920"/>
          </a:xfrm>
          <a:prstGeom prst="diamond">
            <a:avLst/>
          </a:prstGeom>
          <a:solidFill>
            <a:srgbClr val="FFF9C4"/>
          </a:solidFill>
          <a:ln w="19050">
            <a:solidFill>
              <a:srgbClr val="F9A8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All Photos Done?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977639"/>
            <a:ext cx="512064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PAN Card Capture + OCR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4617720"/>
            <a:ext cx="5120640" cy="50292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E65100"/>
                </a:solidFill>
                <a:latin typeface="Calibri"/>
              </a:rPr>
              <a:t>Bank Statement Consent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5257800"/>
            <a:ext cx="5120640" cy="502920"/>
          </a:xfrm>
          <a:prstGeom prst="roundRect">
            <a:avLst/>
          </a:prstGeom>
          <a:solidFill>
            <a:srgbClr val="FCE4EC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880E4F"/>
                </a:solidFill>
                <a:latin typeface="Calibri"/>
              </a:rPr>
              <a:t>Submit Session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897880"/>
            <a:ext cx="5120640" cy="502920"/>
          </a:xfrm>
          <a:prstGeom prst="roundRect">
            <a:avLst/>
          </a:prstGeom>
          <a:solidFill>
            <a:srgbClr val="F3E5F5"/>
          </a:solidFill>
          <a:ln w="1905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6A1B9A"/>
                </a:solidFill>
                <a:latin typeface="Calibri"/>
              </a:rPr>
              <a:t>Run AI Pipeline  →  Generate PDF Report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961120.0" y="1554480"/>
            <a:ext cx="0.0" cy="320039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961120.0" y="2377439"/>
            <a:ext cx="0.0" cy="137161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961120.0" y="301752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961120.0" y="3657600"/>
            <a:ext cx="0.0" cy="320039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61120.0" y="4480559"/>
            <a:ext cx="0.0" cy="137161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8961120.0" y="512064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8961120.0" y="5760720"/>
            <a:ext cx="0.0" cy="137160"/>
          </a:xfrm>
          <a:prstGeom prst="line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1521440" y="1600200"/>
            <a:ext cx="0" cy="4800600"/>
          </a:xfrm>
          <a:prstGeom prst="line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1521440" y="6400800"/>
            <a:ext cx="0" cy="0"/>
          </a:xfrm>
          <a:prstGeom prst="line">
            <a:avLst/>
          </a:prstGeom>
          <a:ln w="19050">
            <a:solidFill>
              <a:srgbClr val="F443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11521440" y="1874519"/>
            <a:ext cx="0" cy="4526281"/>
          </a:xfrm>
          <a:prstGeom prst="line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11539728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4336"/>
                </a:solidFill>
                <a:latin typeface="Calibri"/>
              </a:rPr>
              <a:t>No
(loop)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1521440" y="3703320"/>
            <a:ext cx="0" cy="274319"/>
          </a:xfrm>
          <a:prstGeom prst="line">
            <a:avLst/>
          </a:prstGeom>
          <a:ln w="19050">
            <a:solidFill>
              <a:srgbClr val="F4433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1539728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F44336"/>
                </a:solidFill>
                <a:latin typeface="Calibri"/>
              </a:rPr>
              <a:t>No
(loop)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16002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70332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2E7D32"/>
                </a:solidFill>
                <a:latin typeface="Calibri"/>
              </a:rPr>
              <a:t>Yes</a:t>
            </a:r>
          </a:p>
        </p:txBody>
      </p:sp>
      <p:sp>
        <p:nvSpPr>
          <p:cNvPr id="46" name="Oval 45"/>
          <p:cNvSpPr/>
          <p:nvPr/>
        </p:nvSpPr>
        <p:spPr>
          <a:xfrm>
            <a:off x="8686800" y="6492240"/>
            <a:ext cx="914400" cy="411480"/>
          </a:xfrm>
          <a:prstGeom prst="ellipse">
            <a:avLst/>
          </a:prstGeom>
          <a:solidFill>
            <a:srgbClr val="1B5E20"/>
          </a:solidFill>
          <a:ln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394960" y="6144768"/>
            <a:ext cx="3566160.0" cy="0"/>
          </a:xfrm>
          <a:prstGeom prst="bentConnector3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8961120.0" y="1051560"/>
            <a:ext cx="0.0" cy="5093208"/>
          </a:xfrm>
          <a:prstGeom prst="bentConnector3">
            <a:avLst/>
          </a:prstGeom>
          <a:ln w="19050">
            <a:solidFill>
              <a:srgbClr val="546E7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440680" y="59436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2E7D32"/>
                </a:solidFill>
                <a:latin typeface="Calibri"/>
              </a:rPr>
              <a:t>To Q&amp;A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5 — Application Screenshots (Simulated UI)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Loan Application Form  ·  FI Session Recording screen  ·  Photo Review screen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" y="1024128"/>
            <a:ext cx="3749039" cy="5623560"/>
          </a:xfrm>
          <a:prstGeom prst="roundRect">
            <a:avLst/>
          </a:prstGeom>
          <a:solidFill>
            <a:srgbClr val="1C1C1E"/>
          </a:solidFill>
          <a:ln w="381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170432"/>
            <a:ext cx="3566159" cy="5422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70432"/>
            <a:ext cx="3566159" cy="3840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Loan Application 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2763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1565C0"/>
                </a:solidFill>
                <a:latin typeface="Calibri"/>
              </a:rPr>
              <a:t>ABC Bank — Personal Loan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75104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" y="204825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First Name: </a:t>
            </a:r>
            <a:r>
              <a:rPr sz="800">
                <a:solidFill>
                  <a:srgbClr val="212121"/>
                </a:solidFill>
                <a:latin typeface="Calibri"/>
              </a:rPr>
              <a:t>Rahul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" y="2359152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Last Name: </a:t>
            </a:r>
            <a:r>
              <a:rPr sz="800">
                <a:solidFill>
                  <a:srgbClr val="212121"/>
                </a:solidFill>
                <a:latin typeface="Calibri"/>
              </a:rPr>
              <a:t>Sharma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" y="2670048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DOB: </a:t>
            </a:r>
            <a:r>
              <a:rPr sz="800">
                <a:solidFill>
                  <a:srgbClr val="212121"/>
                </a:solidFill>
                <a:latin typeface="Calibri"/>
              </a:rPr>
              <a:t>15-May-1990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" y="2980944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PAN: </a:t>
            </a:r>
            <a:r>
              <a:rPr sz="800">
                <a:solidFill>
                  <a:srgbClr val="212121"/>
                </a:solidFill>
                <a:latin typeface="Calibri"/>
              </a:rPr>
              <a:t>ABCPS1234R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" y="3291840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Income: </a:t>
            </a:r>
            <a:r>
              <a:rPr sz="800">
                <a:solidFill>
                  <a:srgbClr val="212121"/>
                </a:solidFill>
                <a:latin typeface="Calibri"/>
              </a:rPr>
              <a:t>₹5L – ₹20L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360273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Loan Amt: </a:t>
            </a:r>
            <a:r>
              <a:rPr sz="800">
                <a:solidFill>
                  <a:srgbClr val="212121"/>
                </a:solidFill>
                <a:latin typeface="Calibri"/>
              </a:rPr>
              <a:t>₹3,00,000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13632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986784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1565C0"/>
                </a:solidFill>
                <a:latin typeface="Calibri"/>
              </a:rPr>
              <a:t>Property Info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" y="433425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Type: </a:t>
            </a:r>
            <a:r>
              <a:rPr sz="800">
                <a:solidFill>
                  <a:srgbClr val="212121"/>
                </a:solidFill>
                <a:latin typeface="Calibri"/>
              </a:rPr>
              <a:t>Flat / Apartment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" y="4645152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Bedrooms: </a:t>
            </a:r>
            <a:r>
              <a:rPr sz="800">
                <a:solidFill>
                  <a:srgbClr val="212121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" y="4956048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37474F"/>
                </a:solidFill>
                <a:latin typeface="Calibri"/>
              </a:rPr>
              <a:t>Hall: </a:t>
            </a:r>
            <a:r>
              <a:rPr sz="800">
                <a:solidFill>
                  <a:srgbClr val="212121"/>
                </a:solidFill>
                <a:latin typeface="Calibr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66944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3192" y="5340096"/>
            <a:ext cx="3474719" cy="384048"/>
          </a:xfrm>
          <a:prstGeom prst="round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Calibri"/>
              </a:rPr>
              <a:t>Review Application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06240" y="1024128"/>
            <a:ext cx="3749039" cy="5623560"/>
          </a:xfrm>
          <a:prstGeom prst="roundRect">
            <a:avLst/>
          </a:prstGeom>
          <a:solidFill>
            <a:srgbClr val="1C1C1E"/>
          </a:solidFill>
          <a:ln w="381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1170432"/>
            <a:ext cx="3566159" cy="5422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80" y="1170432"/>
            <a:ext cx="3566159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FI Session — Recording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1627632"/>
            <a:ext cx="3474719" cy="77724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78909C"/>
                </a:solidFill>
                <a:latin typeface="Calibri"/>
              </a:rPr>
              <a:t>[FRONT CAMERA PREVIEW]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2468880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3400" y="254203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2E7D32"/>
                </a:solidFill>
                <a:latin typeface="Calibri"/>
              </a:rPr>
              <a:t>Question 2 of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2889504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"What is your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0832" y="319125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 residential PIN code?"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93008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70832" y="3566160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44336"/>
                </a:solidFill>
                <a:latin typeface="Calibri"/>
              </a:rPr>
              <a:t>[REC]  Recording...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0832" y="3867912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Please speak now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4169664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2" y="424281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Partial: "my pin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4544568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         code is 40..."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83879" y="1024128"/>
            <a:ext cx="3749039" cy="5623560"/>
          </a:xfrm>
          <a:prstGeom prst="roundRect">
            <a:avLst/>
          </a:prstGeom>
          <a:solidFill>
            <a:srgbClr val="1C1C1E"/>
          </a:solidFill>
          <a:ln w="38100">
            <a:solidFill>
              <a:srgbClr val="3A3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275319" y="1170432"/>
            <a:ext cx="3566159" cy="54223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75319" y="1170432"/>
            <a:ext cx="3566159" cy="3840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Photo Review — Nameplate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48471" y="1627632"/>
            <a:ext cx="3474719" cy="777240"/>
          </a:xfrm>
          <a:prstGeom prst="roundRect">
            <a:avLst/>
          </a:prstGeom>
          <a:solidFill>
            <a:srgbClr val="ECEFF1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78909C"/>
                </a:solidFill>
                <a:latin typeface="Calibri"/>
              </a:rPr>
              <a:t>[REAR CAMERA PHOTO]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321039" y="2468880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21039" y="2542032"/>
            <a:ext cx="347471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6A1B9A"/>
                </a:solidFill>
                <a:latin typeface="Calibri"/>
              </a:rPr>
              <a:t>Nameplate — Review before saving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21039" y="2889504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48471" y="2962656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GPS  Lat: 19.07602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48471" y="3264408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     Lon: 72.87743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39" y="3566160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48471" y="3639312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OCR detected text: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8471" y="3941064"/>
            <a:ext cx="3474719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212121"/>
                </a:solidFill>
                <a:latin typeface="Calibri"/>
              </a:rPr>
              <a:t>"Sharma Residence"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39" y="4242816"/>
            <a:ext cx="3474719" cy="18288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348471" y="4315968"/>
            <a:ext cx="1691639" cy="384048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[X] Retake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85830" y="4315968"/>
            <a:ext cx="1691639" cy="384048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[✓] Save Photo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" y="64008"/>
            <a:ext cx="11887200" cy="512064"/>
          </a:xfrm>
          <a:prstGeom prst="roundRect">
            <a:avLst/>
          </a:prstGeom>
          <a:solidFill>
            <a:srgbClr val="1A237E"/>
          </a:solidFill>
          <a:ln>
            <a:solidFill>
              <a:srgbClr val="1A2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Figure 6 — AI Analysis Output: Sample Credit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03504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Credit Score  ·  CIBIL Score  ·  Recommendation  ·  Identity / Residence / Income / Location assessments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" y="914400"/>
            <a:ext cx="11887200" cy="18288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" y="1024128"/>
            <a:ext cx="3749039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E7D32"/>
                </a:solidFill>
                <a:latin typeface="Calibri"/>
              </a:rPr>
              <a:t>CREDIT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138988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2E7D32"/>
                </a:solidFill>
                <a:latin typeface="Calibri"/>
              </a:rPr>
              <a:t>72 /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920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2E7D32"/>
                </a:solidFill>
                <a:latin typeface="Calibri"/>
              </a:rPr>
              <a:t>Grade: BBB  ·  Conditional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024128"/>
            <a:ext cx="3749039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E65100"/>
                </a:solidFill>
                <a:latin typeface="Calibri"/>
              </a:rPr>
              <a:t>RECOMMENDATION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38988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E65100"/>
                </a:solidFill>
                <a:latin typeface="Calibri"/>
              </a:rPr>
              <a:t>APPROVE WITH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1920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E65100"/>
                </a:solidFill>
                <a:latin typeface="Calibri"/>
              </a:rPr>
              <a:t>CONDITIONS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024128"/>
            <a:ext cx="3749039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0515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565C0"/>
                </a:solidFill>
                <a:latin typeface="Calibri"/>
              </a:rPr>
              <a:t>CIBIL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138988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565C0"/>
                </a:solidFill>
                <a:latin typeface="Calibri"/>
              </a:rPr>
              <a:t>695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19202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1565C0"/>
                </a:solidFill>
                <a:latin typeface="Calibri"/>
              </a:rPr>
              <a:t>FAIR  ·  TransUnion CIBIL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" y="2606040"/>
            <a:ext cx="566928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697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Calibri"/>
              </a:rPr>
              <a:t>Identity Assessment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" y="3136392"/>
            <a:ext cx="36576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74320" y="3136392"/>
            <a:ext cx="3108960" cy="25603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081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AF50"/>
                </a:solidFill>
                <a:latin typeface="Calibri"/>
              </a:rPr>
              <a:t>85 /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49300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74F"/>
                </a:solidFill>
                <a:latin typeface="Calibri"/>
              </a:rPr>
              <a:t>PAN OCR: ABCPS1234R  ✓
Face similarity: 78%
Name match: PASS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2606040"/>
            <a:ext cx="5669280" cy="18288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697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565C0"/>
                </a:solidFill>
                <a:latin typeface="Calibri"/>
              </a:rPr>
              <a:t>Residence Assessment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36392"/>
            <a:ext cx="36576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3136392"/>
            <a:ext cx="2926080" cy="25603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308152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AF50"/>
                </a:solidFill>
                <a:latin typeface="Calibri"/>
              </a:rPr>
              <a:t>80 /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49300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74F"/>
                </a:solidFill>
                <a:latin typeface="Calibri"/>
              </a:rPr>
              <a:t>GPS spread: 42 m (8 points)
Nameplate OCR: "Sharma Residence"
Address verified 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2880" y="4709160"/>
            <a:ext cx="5669280" cy="1828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65100"/>
                </a:solidFill>
                <a:latin typeface="Calibri"/>
              </a:rPr>
              <a:t>Income Assessment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239512"/>
            <a:ext cx="36576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74320" y="5239512"/>
            <a:ext cx="2560320" cy="256032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23360" y="5184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9800"/>
                </a:solidFill>
                <a:latin typeface="Calibri"/>
              </a:rPr>
              <a:t>70 / 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59612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74F"/>
                </a:solidFill>
                <a:latin typeface="Calibri"/>
              </a:rPr>
              <a:t>Avg income: ₹68,400 / mo
Expense ratio: 58%
Creditworthiness: 7 / 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26480" y="4709160"/>
            <a:ext cx="5669280" cy="182880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80060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Calibri"/>
              </a:rPr>
              <a:t>Location Assessment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5239512"/>
            <a:ext cx="3657600" cy="256032"/>
          </a:xfrm>
          <a:prstGeom prst="round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7920" y="5239512"/>
            <a:ext cx="3364992" cy="256032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0" y="51846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CAF50"/>
                </a:solidFill>
                <a:latin typeface="Calibri"/>
              </a:rPr>
              <a:t>92 / 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596128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37474F"/>
                </a:solidFill>
                <a:latin typeface="Calibri"/>
              </a:rPr>
              <a:t>All photos within 312 m
GPS status: PASS
Google Maps: Mumbai, MH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2880" y="6510528"/>
            <a:ext cx="11823192" cy="27432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2E7D32"/>
                </a:solidFill>
                <a:latin typeface="Calibri"/>
              </a:rPr>
              <a:t>Case: rahul_a3b4c5d6  ·  Loan: ₹3,00,000  ·  EMI (est.): ₹6,660/mo  ·  EMI:Income = 9.7%  ·  Status: AFFORDABLE  ·  Powered by VideoCX FI 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