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462272" y="0"/>
            <a:ext cx="109728" cy="6858000"/>
          </a:xfrm>
          <a:prstGeom prst="rect">
            <a:avLst/>
          </a:prstGeom>
          <a:solidFill>
            <a:srgbClr val="0E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8288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3557"/>
                </a:solidFill>
                <a:latin typeface="Calibri"/>
              </a:rPr>
              <a:t>Dr. Babasaheb Ambedkar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22402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C3557"/>
                </a:solidFill>
                <a:latin typeface="Calibri"/>
              </a:rPr>
              <a:t>Technological University, Lonere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69748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Arvind Gavali College of Engineering, Satara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9718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3557"/>
                </a:solidFill>
                <a:latin typeface="Calibri"/>
              </a:rPr>
              <a:t>Dept. of Computer Science &amp;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337560"/>
            <a:ext cx="3840480" cy="2286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320" y="347472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3557"/>
                </a:solidFill>
                <a:latin typeface="Calibri"/>
              </a:rPr>
              <a:t>Presented by: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3767328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Calibri"/>
              </a:rPr>
              <a:t>Mr. Shubham Abaso Nale  (2265451242070)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023360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Calibri"/>
              </a:rPr>
              <a:t>Mr. Sarvesh Vijay Jadhav  (23065451242519)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7939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Calibri"/>
              </a:rPr>
              <a:t>Mr. Suyash Rajendra Kale  (2265451242132)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466344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8FA8"/>
                </a:solidFill>
                <a:latin typeface="Calibri"/>
              </a:rPr>
              <a:t>Guide: Prof. C. K. Saste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" y="5943600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718096"/>
                </a:solidFill>
                <a:latin typeface="Calibri"/>
              </a:rPr>
              <a:t>Industry partner: VideoCX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91440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C3557"/>
                </a:solidFill>
                <a:latin typeface="Calibri"/>
              </a:rPr>
              <a:t>AI-Based Visual
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606040"/>
            <a:ext cx="7040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E8FA8"/>
                </a:solidFill>
                <a:latin typeface="Calibri"/>
              </a:rPr>
              <a:t>for Digital Field Investigation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3200400"/>
            <a:ext cx="7040880" cy="2286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3291840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718096"/>
                </a:solidFill>
                <a:latin typeface="Calibri"/>
              </a:rPr>
              <a:t>Guided image capture  ·  AI visual analysis  ·  Fraud signal detection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846320" y="3840480"/>
            <a:ext cx="342900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E8FA8"/>
                </a:solidFill>
                <a:latin typeface="Calibri"/>
              </a:rPr>
              <a:t>Computer Vision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58200" y="3840480"/>
            <a:ext cx="342900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E8FA8"/>
                </a:solidFill>
                <a:latin typeface="Calibri"/>
              </a:rPr>
              <a:t>Optical Character Recognition (OCR)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846320" y="4434840"/>
            <a:ext cx="342900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E8FA8"/>
                </a:solidFill>
                <a:latin typeface="Calibri"/>
              </a:rPr>
              <a:t>Face Matching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58200" y="4434840"/>
            <a:ext cx="3429000" cy="47548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0">
                <a:solidFill>
                  <a:srgbClr val="0E8FA8"/>
                </a:solidFill>
                <a:latin typeface="Calibri"/>
              </a:rPr>
              <a:t>Scene Understanding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What we'll cover in this presentation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005840"/>
            <a:ext cx="57607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1005840"/>
            <a:ext cx="64008" cy="7772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11556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3557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0972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3557"/>
                </a:solidFill>
                <a:latin typeface="Calibri"/>
              </a:rPr>
              <a:t>About VideoCX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4447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Company context and industry background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005840"/>
            <a:ext cx="57607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63640" y="1005840"/>
            <a:ext cx="64008" cy="7772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11556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3557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9440" y="1097280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3557"/>
                </a:solidFill>
                <a:latin typeface="Calibri"/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4447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Why manual field investigation fails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1892808"/>
            <a:ext cx="57607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28600" y="1892808"/>
            <a:ext cx="64008" cy="7772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00253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3557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19842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3557"/>
                </a:solidFill>
                <a:latin typeface="Calibri"/>
              </a:rPr>
              <a:t>Proposed Solution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2331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Guided image capture approach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1892808"/>
            <a:ext cx="57607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1892808"/>
            <a:ext cx="64008" cy="77724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200253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C3557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49440" y="1984248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3557"/>
                </a:solidFill>
                <a:latin typeface="Calibri"/>
              </a:rPr>
              <a:t>Objectives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23317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Project goals and scope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2779776"/>
            <a:ext cx="57607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28600" y="2779776"/>
            <a:ext cx="64008" cy="777240"/>
          </a:xfrm>
          <a:prstGeom prst="rect">
            <a:avLst/>
          </a:prstGeom>
          <a:solidFill>
            <a:srgbClr val="0E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288950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8FA8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287121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3557"/>
                </a:solidFill>
                <a:latin typeface="Calibri"/>
              </a:rPr>
              <a:t>AI Signals &amp; Fraud Flags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2186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What the AI system detects and flags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2779776"/>
            <a:ext cx="57607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63640" y="2779776"/>
            <a:ext cx="64008" cy="777240"/>
          </a:xfrm>
          <a:prstGeom prst="rect">
            <a:avLst/>
          </a:prstGeom>
          <a:solidFill>
            <a:srgbClr val="0E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288950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8FA8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49440" y="2871216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3557"/>
                </a:solidFill>
                <a:latin typeface="Calibri"/>
              </a:rPr>
              <a:t>System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32186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How the pipeline is structured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3666744"/>
            <a:ext cx="57607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28600" y="3666744"/>
            <a:ext cx="64008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3776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7722"/>
                </a:solidFill>
                <a:latin typeface="Calibri"/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37581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3557"/>
                </a:solidFill>
                <a:latin typeface="Calibri"/>
              </a:rPr>
              <a:t>Data Flow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10565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How data moves through the system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3666744"/>
            <a:ext cx="57607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63640" y="3666744"/>
            <a:ext cx="64008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7764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7722"/>
                </a:solidFill>
                <a:latin typeface="Calibri"/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49440" y="3758184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3557"/>
                </a:solidFill>
                <a:latin typeface="Calibri"/>
              </a:rPr>
              <a:t>Technology Stack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0" y="410565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Tools, frameworks, and models used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29000" y="4553712"/>
            <a:ext cx="5760720" cy="777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3429000" y="4553712"/>
            <a:ext cx="64008" cy="77724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11880" y="46634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87722"/>
                </a:solidFill>
                <a:latin typeface="Calibri"/>
              </a:rP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114800" y="46451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3557"/>
                </a:solidFill>
                <a:latin typeface="Calibri"/>
              </a:rPr>
              <a:t>Results &amp; Outcomes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114800" y="499262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Performance metrics and deliverables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731752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About VideoCX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Industry partner driving this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100584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3557"/>
                </a:solidFill>
                <a:latin typeface="Calibri"/>
              </a:rPr>
              <a:t>VideoCX is a technology company working on digital customer interaction and verification workflows for lending and financial services.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69164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C3557"/>
                </a:solidFill>
                <a:latin typeface="Calibri"/>
              </a:rPr>
              <a:t>The company focuses on solutions that help institutions perform critical processes — customer onboarding, video-based verification, and investigation journeys — in a digital, scalable, and traceable 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2651760"/>
            <a:ext cx="7132320" cy="118872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0E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24912"/>
            <a:ext cx="6766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3557"/>
                </a:solidFill>
                <a:latin typeface="Calibri"/>
              </a:rPr>
              <a:t>Proposal 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999232"/>
            <a:ext cx="67665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  <a:latin typeface="Calibri"/>
              </a:rPr>
              <a:t>This project explores how guided image capture and AI-based visual analysis can support digital field investigation in lending — extracting visual evidence and identifying fraud indicators from borrower-captured images.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18120" y="1005840"/>
            <a:ext cx="41148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909560" y="1143000"/>
            <a:ext cx="640080" cy="640080"/>
          </a:xfrm>
          <a:prstGeom prst="ellipse">
            <a:avLst/>
          </a:prstGeom>
          <a:solidFill>
            <a:srgbClr val="0E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41080" y="1097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8FA8"/>
                </a:solidFill>
                <a:latin typeface="Calibri"/>
              </a:rPr>
              <a:t>Project Nature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137160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Calibri"/>
              </a:rPr>
              <a:t>College project  /  internship problem statement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18120" y="2514600"/>
            <a:ext cx="41148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909560" y="2651760"/>
            <a:ext cx="640080" cy="640080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26060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3557"/>
                </a:solidFill>
                <a:latin typeface="Calibri"/>
              </a:rPr>
              <a:t>Primary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41080" y="288036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Calibri"/>
              </a:rPr>
              <a:t>AI · Computer Vision · OCR · Visual Verification · Fraud Detection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4023360"/>
            <a:ext cx="4114800" cy="12801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909560" y="4160520"/>
            <a:ext cx="640080" cy="64008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41080" y="41148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7722"/>
                </a:solidFill>
                <a:latin typeface="Calibri"/>
              </a:rPr>
              <a:t>Aligned with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41080" y="4389120"/>
            <a:ext cx="3154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Calibri"/>
              </a:rPr>
              <a:t>Real lending workflows — loan origination &amp; field verification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731752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Field investigation is still a slow, expensive, manual bottleneck in lending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60120"/>
            <a:ext cx="777240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64008" cy="118872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38912" y="1188720"/>
            <a:ext cx="640080" cy="640080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033272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3557"/>
                </a:solidFill>
                <a:latin typeface="Calibri"/>
              </a:rPr>
              <a:t>Slow &amp; Costly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344168"/>
            <a:ext cx="667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Calibri"/>
              </a:rPr>
              <a:t>Physical visits delay small-ticket loans by 3–7 days. Agent travel, scheduling, and manual report filing add high per-case cost.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286000"/>
            <a:ext cx="777240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286000"/>
            <a:ext cx="64008" cy="1188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38912" y="2514600"/>
            <a:ext cx="640080" cy="640080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359152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3557"/>
                </a:solidFill>
                <a:latin typeface="Calibri"/>
              </a:rPr>
              <a:t>Inconsistent Reports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670048"/>
            <a:ext cx="667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Calibri"/>
              </a:rPr>
              <a:t>Each agent applies different observation standards — no uniform photo requirements, no consistent fraud checks.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611880"/>
            <a:ext cx="7772400" cy="11887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611880"/>
            <a:ext cx="64008" cy="118872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38912" y="3840480"/>
            <a:ext cx="640080" cy="640080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685032"/>
            <a:ext cx="6675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1C3557"/>
                </a:solidFill>
                <a:latin typeface="Calibri"/>
              </a:rPr>
              <a:t>High Fraud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995928"/>
            <a:ext cx="6675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Calibri"/>
              </a:rPr>
              <a:t>Borrowers may present a wrong person, use a borrowed location, or show premises unrelated to the declared loan purpose.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96012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8FA8"/>
                </a:solidFill>
                <a:latin typeface="Calibri"/>
              </a:rPr>
              <a:t>Target Use Cases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325880"/>
            <a:ext cx="3566160" cy="548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C3557"/>
                </a:solidFill>
                <a:latin typeface="Calibri"/>
              </a:rPr>
              <a:t>Shop Verification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21040" y="1984248"/>
            <a:ext cx="3566160" cy="548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C3557"/>
                </a:solidFill>
                <a:latin typeface="Calibri"/>
              </a:rPr>
              <a:t>Workplace Verification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2642616"/>
            <a:ext cx="3566160" cy="5486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1C3557"/>
                </a:solidFill>
                <a:latin typeface="Calibri"/>
              </a:rPr>
              <a:t>Residence Verification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40" y="3383280"/>
            <a:ext cx="3566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3946"/>
                </a:solidFill>
                <a:latin typeface="Calibri"/>
              </a:rPr>
              <a:t>Fraud risk indicators</a:t>
            </a:r>
          </a:p>
        </p:txBody>
      </p:sp>
      <p:sp>
        <p:nvSpPr>
          <p:cNvPr id="25" name="Oval 24"/>
          <p:cNvSpPr/>
          <p:nvPr/>
        </p:nvSpPr>
        <p:spPr>
          <a:xfrm>
            <a:off x="8321040" y="3749039"/>
            <a:ext cx="201168" cy="201168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13648" y="373075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Calibri"/>
              </a:rPr>
              <a:t>Wrong person present at the site</a:t>
            </a:r>
          </a:p>
        </p:txBody>
      </p:sp>
      <p:sp>
        <p:nvSpPr>
          <p:cNvPr id="27" name="Oval 26"/>
          <p:cNvSpPr/>
          <p:nvPr/>
        </p:nvSpPr>
        <p:spPr>
          <a:xfrm>
            <a:off x="8321040" y="4251959"/>
            <a:ext cx="201168" cy="201168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13648" y="423367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Calibri"/>
              </a:rPr>
              <a:t>Fake or borrowed location used</a:t>
            </a:r>
          </a:p>
        </p:txBody>
      </p:sp>
      <p:sp>
        <p:nvSpPr>
          <p:cNvPr id="29" name="Oval 28"/>
          <p:cNvSpPr/>
          <p:nvPr/>
        </p:nvSpPr>
        <p:spPr>
          <a:xfrm>
            <a:off x="8321040" y="4754879"/>
            <a:ext cx="201168" cy="201168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13648" y="4736592"/>
            <a:ext cx="3246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Calibri"/>
              </a:rPr>
              <a:t>Mismatch between declared and observed premises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731752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AI analysis covers object detection, OCR, scene classification, face match, and GPS location validation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" y="914400"/>
            <a:ext cx="2194560" cy="4114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28700" y="1051560"/>
            <a:ext cx="694944" cy="694944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101852" y="1901952"/>
            <a:ext cx="548640" cy="4114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8620" y="2029968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C3557"/>
                </a:solidFill>
                <a:latin typeface="Calibri"/>
              </a:rPr>
              <a:t>Guided 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" y="2450592"/>
            <a:ext cx="197510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568"/>
                </a:solidFill>
                <a:latin typeface="Calibri"/>
              </a:rPr>
              <a:t>Customer captures images during a structured digital session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73452.0" y="2971800.0"/>
            <a:ext cx="164592.0" cy="0.0"/>
          </a:xfrm>
          <a:prstGeom prst="line">
            <a:avLst/>
          </a:prstGeom>
          <a:ln w="19050">
            <a:solidFill>
              <a:srgbClr val="E2E8F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638044" y="914400"/>
            <a:ext cx="2194560" cy="4114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87852" y="1051560"/>
            <a:ext cx="694944" cy="694944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61004" y="1901952"/>
            <a:ext cx="548640" cy="41148"/>
          </a:xfrm>
          <a:prstGeom prst="rect">
            <a:avLst/>
          </a:prstGeom>
          <a:solidFill>
            <a:srgbClr val="0E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7772" y="2029968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E8FA8"/>
                </a:solidFill>
                <a:latin typeface="Calibri"/>
              </a:rPr>
              <a:t>Timestamping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7772" y="2450592"/>
            <a:ext cx="197510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568"/>
                </a:solidFill>
                <a:latin typeface="Calibri"/>
              </a:rPr>
              <a:t>Each image tagged with session time — full traceability and audit trail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832604.0" y="2971800.0"/>
            <a:ext cx="164592.0" cy="0.0"/>
          </a:xfrm>
          <a:prstGeom prst="line">
            <a:avLst/>
          </a:prstGeom>
          <a:ln w="19050">
            <a:solidFill>
              <a:srgbClr val="E2E8F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997196" y="914400"/>
            <a:ext cx="2194560" cy="4114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47004" y="1051560"/>
            <a:ext cx="694944" cy="694944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20156" y="1901952"/>
            <a:ext cx="548640" cy="41148"/>
          </a:xfrm>
          <a:prstGeom prst="rect">
            <a:avLst/>
          </a:prstGeom>
          <a:solidFill>
            <a:srgbClr val="0E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06924" y="2029968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E8FA8"/>
                </a:solidFill>
                <a:latin typeface="Calibri"/>
              </a:rPr>
              <a:t>AI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06924" y="2450592"/>
            <a:ext cx="197510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568"/>
                </a:solidFill>
                <a:latin typeface="Calibri"/>
              </a:rPr>
              <a:t>GPT-4o Vision for object detection, OCR, scene classification, face verification, and GPS cross-check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191756.0" y="2971800.0"/>
            <a:ext cx="164592.0" cy="0.0"/>
          </a:xfrm>
          <a:prstGeom prst="line">
            <a:avLst/>
          </a:prstGeom>
          <a:ln w="19050">
            <a:solidFill>
              <a:srgbClr val="E2E8F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356348" y="914400"/>
            <a:ext cx="2194560" cy="4114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106156" y="1051560"/>
            <a:ext cx="694944" cy="694944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79308" y="1901952"/>
            <a:ext cx="548640" cy="4114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66076" y="2029968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C3557"/>
                </a:solidFill>
                <a:latin typeface="Calibri"/>
              </a:rPr>
              <a:t>Fraud Checks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66076" y="2450592"/>
            <a:ext cx="197510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568"/>
                </a:solidFill>
                <a:latin typeface="Calibri"/>
              </a:rPr>
              <a:t>GPS validates declared address. Face match detects wrong person. Scene type flags environment mismatches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50908.0" y="2971800.0"/>
            <a:ext cx="164592.0" cy="0.0"/>
          </a:xfrm>
          <a:prstGeom prst="line">
            <a:avLst/>
          </a:prstGeom>
          <a:ln w="19050">
            <a:solidFill>
              <a:srgbClr val="E2E8F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715500" y="914400"/>
            <a:ext cx="2194560" cy="41148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65308" y="1051560"/>
            <a:ext cx="694944" cy="694944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538460" y="1901952"/>
            <a:ext cx="548640" cy="41148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25228" y="2029968"/>
            <a:ext cx="197510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E87722"/>
                </a:solidFill>
                <a:latin typeface="Calibri"/>
              </a:rPr>
              <a:t>Structured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25228" y="2450592"/>
            <a:ext cx="1975104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4A5568"/>
                </a:solidFill>
                <a:latin typeface="Calibri"/>
              </a:rPr>
              <a:t>Explainable summary with credit score, CIBIL score, and PDF report for lender review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28600" y="5212080"/>
            <a:ext cx="11731752" cy="594360"/>
          </a:xfrm>
          <a:prstGeom prst="roundRect">
            <a:avLst/>
          </a:prstGeom>
          <a:solidFill>
            <a:srgbClr val="E8F7FA"/>
          </a:solidFill>
          <a:ln w="10160">
            <a:solidFill>
              <a:srgbClr val="0E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457200" y="5330952"/>
            <a:ext cx="256032" cy="256032"/>
          </a:xfrm>
          <a:prstGeom prst="ellipse">
            <a:avLst/>
          </a:prstGeom>
          <a:solidFill>
            <a:srgbClr val="2D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53126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C3557"/>
                </a:solidFill>
                <a:latin typeface="Calibri"/>
              </a:rPr>
              <a:t>Lower bandwidth than full-video AI</a:t>
            </a:r>
          </a:p>
        </p:txBody>
      </p:sp>
      <p:sp>
        <p:nvSpPr>
          <p:cNvPr id="37" name="Oval 36"/>
          <p:cNvSpPr/>
          <p:nvPr/>
        </p:nvSpPr>
        <p:spPr>
          <a:xfrm>
            <a:off x="4343400" y="5330952"/>
            <a:ext cx="256032" cy="256032"/>
          </a:xfrm>
          <a:prstGeom prst="ellipse">
            <a:avLst/>
          </a:prstGeom>
          <a:solidFill>
            <a:srgbClr val="2D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90872" y="53126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C3557"/>
                </a:solidFill>
                <a:latin typeface="Calibri"/>
              </a:rPr>
              <a:t>Human-reviewable evidence images with timestamps</a:t>
            </a:r>
          </a:p>
        </p:txBody>
      </p:sp>
      <p:sp>
        <p:nvSpPr>
          <p:cNvPr id="39" name="Oval 38"/>
          <p:cNvSpPr/>
          <p:nvPr/>
        </p:nvSpPr>
        <p:spPr>
          <a:xfrm>
            <a:off x="8229600" y="5330952"/>
            <a:ext cx="256032" cy="256032"/>
          </a:xfrm>
          <a:prstGeom prst="ellipse">
            <a:avLst/>
          </a:prstGeom>
          <a:solidFill>
            <a:srgbClr val="2D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577072" y="5312664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C3557"/>
                </a:solidFill>
                <a:latin typeface="Calibri"/>
              </a:rPr>
              <a:t>Clear audit trail through explainable outputs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731752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" y="777240"/>
            <a:ext cx="2148840" cy="1645920"/>
          </a:xfrm>
          <a:prstGeom prst="roundRect">
            <a:avLst/>
          </a:prstGeom>
          <a:solidFill>
            <a:srgbClr val="EBF5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841248"/>
            <a:ext cx="1929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565C0"/>
                </a:solidFill>
                <a:latin typeface="Calibri"/>
              </a:rPr>
              <a:t>Borrower
Mobile App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98448"/>
            <a:ext cx="1874520" cy="228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371600"/>
            <a:ext cx="19293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7474F"/>
                </a:solidFill>
                <a:latin typeface="Calibri"/>
              </a:rPr>
              <a:t>Guided capture
GPS + timestamp
Session prompts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331720" y="1600200.0"/>
            <a:ext cx="164592" cy="0.0"/>
          </a:xfrm>
          <a:prstGeom prst="line">
            <a:avLst/>
          </a:prstGeom>
          <a:ln w="19050">
            <a:solidFill>
              <a:srgbClr val="4A556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496312" y="777240"/>
            <a:ext cx="2148840" cy="1645920"/>
          </a:xfrm>
          <a:prstGeom prst="roundRect">
            <a:avLst/>
          </a:prstGeom>
          <a:solidFill>
            <a:srgbClr val="EBF5FF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841248"/>
            <a:ext cx="1929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1565C0"/>
                </a:solidFill>
                <a:latin typeface="Calibri"/>
              </a:rPr>
              <a:t>API Layer
(FastAPI)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33472" y="1298448"/>
            <a:ext cx="1874520" cy="228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1371600"/>
            <a:ext cx="19293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7474F"/>
                </a:solidFill>
                <a:latin typeface="Calibri"/>
              </a:rPr>
              <a:t>Authentication
Request validation
Session management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645152" y="1600200.0"/>
            <a:ext cx="164592" cy="0.0"/>
          </a:xfrm>
          <a:prstGeom prst="line">
            <a:avLst/>
          </a:prstGeom>
          <a:ln w="19050">
            <a:solidFill>
              <a:srgbClr val="4A556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809744" y="777240"/>
            <a:ext cx="2148840" cy="1645920"/>
          </a:xfrm>
          <a:prstGeom prst="roundRect">
            <a:avLst/>
          </a:prstGeom>
          <a:solidFill>
            <a:srgbClr val="FFF0E8"/>
          </a:solidFill>
          <a:ln w="1905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9472" y="841248"/>
            <a:ext cx="1929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E87722"/>
                </a:solidFill>
                <a:latin typeface="Calibri"/>
              </a:rPr>
              <a:t>Session
Conductor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46904" y="1298448"/>
            <a:ext cx="1874520" cy="2286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19472" y="1371600"/>
            <a:ext cx="19293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7474F"/>
                </a:solidFill>
                <a:latin typeface="Calibri"/>
              </a:rPr>
              <a:t>Q&amp;A  ·  Photo prompts
Countdown  ·  PAN OCR
Consent flow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958584" y="1600200.0"/>
            <a:ext cx="164592" cy="0.0"/>
          </a:xfrm>
          <a:prstGeom prst="line">
            <a:avLst/>
          </a:prstGeom>
          <a:ln w="19050">
            <a:solidFill>
              <a:srgbClr val="4A556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123176" y="777240"/>
            <a:ext cx="2148840" cy="1645920"/>
          </a:xfrm>
          <a:prstGeom prst="roundRect">
            <a:avLst/>
          </a:prstGeom>
          <a:solidFill>
            <a:srgbClr val="FEF0F5"/>
          </a:solidFill>
          <a:ln w="19050"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32904" y="841248"/>
            <a:ext cx="1929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880E4F"/>
                </a:solidFill>
                <a:latin typeface="Calibri"/>
              </a:rPr>
              <a:t>AI Analysis
Engine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260336" y="1298448"/>
            <a:ext cx="1874520" cy="22860"/>
          </a:xfrm>
          <a:prstGeom prst="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232904" y="1371600"/>
            <a:ext cx="19293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7474F"/>
                </a:solidFill>
                <a:latin typeface="Calibri"/>
              </a:rPr>
              <a:t>GPT-4o Vision
AWS Textract
AWS Rekognition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272016" y="1600200.0"/>
            <a:ext cx="164592" cy="0.0"/>
          </a:xfrm>
          <a:prstGeom prst="line">
            <a:avLst/>
          </a:prstGeom>
          <a:ln w="19050">
            <a:solidFill>
              <a:srgbClr val="4A556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436608" y="777240"/>
            <a:ext cx="2148840" cy="1645920"/>
          </a:xfrm>
          <a:prstGeom prst="roundRect">
            <a:avLst/>
          </a:prstGeom>
          <a:solidFill>
            <a:srgbClr val="FFEEEE"/>
          </a:solidFill>
          <a:ln w="1905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46336" y="841248"/>
            <a:ext cx="192938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E63946"/>
                </a:solidFill>
                <a:latin typeface="Calibri"/>
              </a:rPr>
              <a:t>Fraud
Rules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573768" y="1298448"/>
            <a:ext cx="1874520" cy="22860"/>
          </a:xfrm>
          <a:prstGeom prst="rect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46336" y="1371600"/>
            <a:ext cx="192938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7474F"/>
                </a:solidFill>
                <a:latin typeface="Calibri"/>
              </a:rPr>
              <a:t>Mismatch checks
Risk flags
Fraud scoring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3566160"/>
            <a:ext cx="3200400" cy="1737360"/>
          </a:xfrm>
          <a:prstGeom prst="roundRect">
            <a:avLst/>
          </a:prstGeom>
          <a:solidFill>
            <a:srgbClr val="E8F5E9"/>
          </a:solidFill>
          <a:ln w="19050">
            <a:solidFill>
              <a:srgbClr val="2D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3630168"/>
            <a:ext cx="2980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2D9B5A"/>
                </a:solidFill>
                <a:latin typeface="Calibri"/>
              </a:rPr>
              <a:t>Data Storage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51560" y="3977639"/>
            <a:ext cx="2926080" cy="22860"/>
          </a:xfrm>
          <a:prstGeom prst="rect">
            <a:avLst/>
          </a:prstGeom>
          <a:solidFill>
            <a:srgbClr val="2D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24128" y="4041648"/>
            <a:ext cx="29809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7474F"/>
                </a:solidFill>
                <a:latin typeface="Calibri"/>
              </a:rPr>
              <a:t>Application data
Session records
Images and AI outputs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89120" y="3566160"/>
            <a:ext cx="3200400" cy="1737360"/>
          </a:xfrm>
          <a:prstGeom prst="roundRect">
            <a:avLst/>
          </a:prstGeom>
          <a:solidFill>
            <a:srgbClr val="FFF8E1"/>
          </a:solidFill>
          <a:ln w="19050">
            <a:solidFill>
              <a:srgbClr val="F0A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8" y="3630168"/>
            <a:ext cx="2980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0A500"/>
                </a:solidFill>
                <a:latin typeface="Calibri"/>
              </a:rPr>
              <a:t>Report Generator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26280" y="3977639"/>
            <a:ext cx="2926080" cy="22860"/>
          </a:xfrm>
          <a:prstGeom prst="rect">
            <a:avLst/>
          </a:prstGeom>
          <a:solidFill>
            <a:srgbClr val="F0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98848" y="4041648"/>
            <a:ext cx="29809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7474F"/>
                </a:solidFill>
                <a:latin typeface="Calibri"/>
              </a:rPr>
              <a:t>Structured FI summary
CIBIL  ·  Credit analysis
ReportLab PDF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321040" y="3566160"/>
            <a:ext cx="3200400" cy="1737360"/>
          </a:xfrm>
          <a:prstGeom prst="roundRect">
            <a:avLst/>
          </a:prstGeom>
          <a:solidFill>
            <a:srgbClr val="FFEEEE"/>
          </a:solidFill>
          <a:ln w="19050"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0768" y="3630168"/>
            <a:ext cx="2980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880E4F"/>
                </a:solidFill>
                <a:latin typeface="Calibri"/>
              </a:rPr>
              <a:t>Lender / LOS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58200" y="3977639"/>
            <a:ext cx="2926080" cy="22860"/>
          </a:xfrm>
          <a:prstGeom prst="rect">
            <a:avLst/>
          </a:prstGeom>
          <a:solidFill>
            <a:srgbClr val="880E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30768" y="4041648"/>
            <a:ext cx="2980944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>
                <a:solidFill>
                  <a:srgbClr val="37474F"/>
                </a:solidFill>
                <a:latin typeface="Calibri"/>
              </a:rPr>
              <a:t>Report review
Loan decision support
Auditor Portal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417320" y="2423160"/>
            <a:ext cx="0" cy="1143000"/>
          </a:xfrm>
          <a:prstGeom prst="line">
            <a:avLst/>
          </a:prstGeom>
          <a:ln w="19050">
            <a:solidFill>
              <a:srgbClr val="4A556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5669280" y="2423160"/>
            <a:ext cx="91440" cy="1143000"/>
          </a:xfrm>
          <a:prstGeom prst="line">
            <a:avLst/>
          </a:prstGeom>
          <a:ln w="19050">
            <a:solidFill>
              <a:srgbClr val="4A556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412480" y="2423160"/>
            <a:ext cx="1463040" cy="1143000"/>
          </a:xfrm>
          <a:prstGeom prst="bentConnector3">
            <a:avLst/>
          </a:prstGeom>
          <a:ln w="19050">
            <a:solidFill>
              <a:srgbClr val="4A556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7589520" y="4434840"/>
            <a:ext cx="731520" cy="0"/>
          </a:xfrm>
          <a:prstGeom prst="line">
            <a:avLst/>
          </a:prstGeom>
          <a:ln w="19050">
            <a:solidFill>
              <a:srgbClr val="4A556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1521440" y="4434840"/>
            <a:ext cx="0" cy="0"/>
          </a:xfrm>
          <a:prstGeom prst="line">
            <a:avLst/>
          </a:prstGeom>
          <a:ln w="19050">
            <a:solidFill>
              <a:srgbClr val="4A556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182880" y="5532120"/>
            <a:ext cx="11823192" cy="502920"/>
          </a:xfrm>
          <a:prstGeom prst="roundRect">
            <a:avLst/>
          </a:prstGeom>
          <a:solidFill>
            <a:srgbClr val="EBF5FF"/>
          </a:solidFill>
          <a:ln w="10160">
            <a:solidFill>
              <a:srgbClr val="90CA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" y="5577840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C3557"/>
                </a:solidFill>
                <a:latin typeface="Calibri"/>
              </a:rPr>
              <a:t>The AI module adapts prompts based on loan details, previous answers, GPS status, and signals detected in images, making digital field investigation smarter and more efficient.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731752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AI Signals &amp; Fraud Indicators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The output is explainable: what was seen, what was read, and what was flagged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37947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65760" y="1115568"/>
            <a:ext cx="594360" cy="594360"/>
          </a:xfrm>
          <a:prstGeom prst="ellipse">
            <a:avLst/>
          </a:prstGeom>
          <a:solidFill>
            <a:srgbClr val="0E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0241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C3557"/>
                </a:solidFill>
                <a:latin typeface="Calibri"/>
              </a:rPr>
              <a:t>OCR / Signage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71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Read shop names, nameplate text, PAN card fields, and visible labels from images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42816" y="914400"/>
            <a:ext cx="37947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79976" y="1115568"/>
            <a:ext cx="594360" cy="594360"/>
          </a:xfrm>
          <a:prstGeom prst="ellipse">
            <a:avLst/>
          </a:prstGeom>
          <a:solidFill>
            <a:srgbClr val="0E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11496" y="10241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C3557"/>
                </a:solidFill>
                <a:latin typeface="Calibri"/>
              </a:rPr>
              <a:t>Inventory &amp;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11496" y="1371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Estimate visible stock, goods, or business activity from property photos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57032" y="914400"/>
            <a:ext cx="37947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94192" y="1115568"/>
            <a:ext cx="594360" cy="594360"/>
          </a:xfrm>
          <a:prstGeom prst="ellipse">
            <a:avLst/>
          </a:prstGeom>
          <a:solidFill>
            <a:srgbClr val="0E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25712" y="10241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C3557"/>
                </a:solidFill>
                <a:latin typeface="Calibri"/>
              </a:rPr>
              <a:t>People Presence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25712" y="1371600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Check whether relevant people are visible at the declared location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28600" y="2176272"/>
            <a:ext cx="37947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65760" y="2377440"/>
            <a:ext cx="594360" cy="594360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22860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C3557"/>
                </a:solidFill>
                <a:latin typeface="Calibri"/>
              </a:rPr>
              <a:t>Scene Understanding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263347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GPT-4o Vision determines if location looks like a shop, office, or residence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242816" y="2176272"/>
            <a:ext cx="37947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379976" y="2377440"/>
            <a:ext cx="594360" cy="594360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111496" y="22860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C3557"/>
                </a:solidFill>
                <a:latin typeface="Calibri"/>
              </a:rPr>
              <a:t>Face Match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11496" y="263347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Compare borrower's selfie with face on PAN card via AWS Rekognition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57032" y="2176272"/>
            <a:ext cx="379476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94192" y="2377440"/>
            <a:ext cx="594360" cy="594360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25712" y="22860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C3557"/>
                </a:solidFill>
                <a:latin typeface="Calibri"/>
              </a:rPr>
              <a:t>Location Consistency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25712" y="2633472"/>
            <a:ext cx="2834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GPS coordinates validated — all photos within 500m radius of declared address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" y="4389120"/>
            <a:ext cx="11731752" cy="1691640"/>
          </a:xfrm>
          <a:prstGeom prst="roundRect">
            <a:avLst/>
          </a:prstGeom>
          <a:solidFill>
            <a:srgbClr val="FFF5F5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48056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E63946"/>
                </a:solidFill>
                <a:latin typeface="Calibri"/>
              </a:rPr>
              <a:t>Example Fraud Flags</a:t>
            </a:r>
          </a:p>
        </p:txBody>
      </p:sp>
      <p:sp>
        <p:nvSpPr>
          <p:cNvPr id="31" name="Oval 30"/>
          <p:cNvSpPr/>
          <p:nvPr/>
        </p:nvSpPr>
        <p:spPr>
          <a:xfrm>
            <a:off x="502920" y="4846320"/>
            <a:ext cx="201168" cy="201168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4672" y="482803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3557"/>
                </a:solidFill>
                <a:latin typeface="Calibri"/>
              </a:rPr>
              <a:t>Face visible in captured image does not match borrower's reference identity on PAN card</a:t>
            </a:r>
          </a:p>
        </p:txBody>
      </p:sp>
      <p:sp>
        <p:nvSpPr>
          <p:cNvPr id="33" name="Oval 32"/>
          <p:cNvSpPr/>
          <p:nvPr/>
        </p:nvSpPr>
        <p:spPr>
          <a:xfrm>
            <a:off x="502920" y="5230368"/>
            <a:ext cx="201168" cy="201168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5212080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3557"/>
                </a:solidFill>
                <a:latin typeface="Calibri"/>
              </a:rPr>
              <a:t>GPS metadata or visual context does not match declared address or business type</a:t>
            </a:r>
          </a:p>
        </p:txBody>
      </p:sp>
      <p:sp>
        <p:nvSpPr>
          <p:cNvPr id="35" name="Oval 34"/>
          <p:cNvSpPr/>
          <p:nvPr/>
        </p:nvSpPr>
        <p:spPr>
          <a:xfrm>
            <a:off x="502920" y="5614416"/>
            <a:ext cx="201168" cy="201168"/>
          </a:xfrm>
          <a:prstGeom prst="ellipse">
            <a:avLst/>
          </a:prstGeom>
          <a:solidFill>
            <a:srgbClr val="E639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2" y="55961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C3557"/>
                </a:solidFill>
                <a:latin typeface="Calibri"/>
              </a:rPr>
              <a:t>Environment (shop, residence, office) does not match the declared loan purpose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31752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Data Flow at Different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How information moves through the digital field investigation system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777240"/>
            <a:ext cx="2978658" cy="45720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Borrower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" y="1234440"/>
            <a:ext cx="2978658" cy="5440680"/>
          </a:xfrm>
          <a:prstGeom prst="rect">
            <a:avLst/>
          </a:prstGeom>
          <a:solidFill>
            <a:srgbClr val="E8E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15818" y="777240"/>
            <a:ext cx="2978658" cy="457200"/>
          </a:xfrm>
          <a:prstGeom prst="rect">
            <a:avLst/>
          </a:prstGeom>
          <a:solidFill>
            <a:srgbClr val="0E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Mobile App</a:t>
            </a:r>
          </a:p>
        </p:txBody>
      </p:sp>
      <p:sp>
        <p:nvSpPr>
          <p:cNvPr id="8" name="Rectangle 7"/>
          <p:cNvSpPr/>
          <p:nvPr/>
        </p:nvSpPr>
        <p:spPr>
          <a:xfrm>
            <a:off x="3115818" y="1234440"/>
            <a:ext cx="2978658" cy="5440680"/>
          </a:xfrm>
          <a:prstGeom prst="rect">
            <a:avLst/>
          </a:prstGeom>
          <a:solidFill>
            <a:srgbClr val="E6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094476" y="777240"/>
            <a:ext cx="2978658" cy="45720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AI Backend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4476" y="1234440"/>
            <a:ext cx="2978658" cy="5440680"/>
          </a:xfrm>
          <a:prstGeom prst="rect">
            <a:avLst/>
          </a:prstGeom>
          <a:solidFill>
            <a:srgbClr val="FEF3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073134" y="777240"/>
            <a:ext cx="2978658" cy="457200"/>
          </a:xfrm>
          <a:prstGeom prst="rect">
            <a:avLst/>
          </a:prstGeom>
          <a:solidFill>
            <a:srgbClr val="2D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Output 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73134" y="1234440"/>
            <a:ext cx="2978658" cy="5440680"/>
          </a:xfrm>
          <a:prstGeom prst="rect">
            <a:avLst/>
          </a:prstGeom>
          <a:solidFill>
            <a:srgbClr val="E8F6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74320" y="1417320"/>
            <a:ext cx="2704338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Starts guided</a:t>
            </a:r>
          </a:p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verification session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514600"/>
            <a:ext cx="2704338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Captures images</a:t>
            </a:r>
          </a:p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on prompt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611880"/>
            <a:ext cx="2704338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Submits final</a:t>
            </a:r>
          </a:p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session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252978" y="1417320"/>
            <a:ext cx="2704338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Prompts customer</a:t>
            </a:r>
          </a:p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for images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52978" y="2514600"/>
            <a:ext cx="2704338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Attaches GPS &amp;</a:t>
            </a:r>
          </a:p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timestamp to image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52978" y="3611880"/>
            <a:ext cx="2704338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E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Uploads batch</a:t>
            </a:r>
          </a:p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to server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1636" y="1417320"/>
            <a:ext cx="2704338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OCR · Object</a:t>
            </a:r>
          </a:p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Detection · Scene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31636" y="2514600"/>
            <a:ext cx="2704338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Face match &amp;</a:t>
            </a:r>
          </a:p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location check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31636" y="3611880"/>
            <a:ext cx="2704338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Fraud signals</a:t>
            </a:r>
          </a:p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scored &amp; flagged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10294" y="1417320"/>
            <a:ext cx="2704338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Evidence images</a:t>
            </a:r>
          </a:p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with labels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10294" y="2514600"/>
            <a:ext cx="2704338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Fraud flag</a:t>
            </a:r>
          </a:p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summary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210294" y="3611880"/>
            <a:ext cx="2704338" cy="7772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D9B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Digital FI report</a:t>
            </a:r>
          </a:p>
          <a:p>
            <a:pPr algn="ctr"/>
            <a:r>
              <a:rPr sz="950" b="0">
                <a:solidFill>
                  <a:srgbClr val="37474F"/>
                </a:solidFill>
                <a:latin typeface="Calibri"/>
              </a:rPr>
              <a:t>for investigator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626489.0" y="2194560"/>
            <a:ext cx="0.0" cy="320040"/>
          </a:xfrm>
          <a:prstGeom prst="line">
            <a:avLst/>
          </a:prstGeom>
          <a:ln w="19050">
            <a:solidFill>
              <a:srgbClr val="1565C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626489.0" y="3291840"/>
            <a:ext cx="0.0" cy="320040"/>
          </a:xfrm>
          <a:prstGeom prst="line">
            <a:avLst/>
          </a:prstGeom>
          <a:ln w="19050">
            <a:solidFill>
              <a:srgbClr val="1565C0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605147.0" y="2194560"/>
            <a:ext cx="0.0" cy="320040"/>
          </a:xfrm>
          <a:prstGeom prst="line">
            <a:avLst/>
          </a:prstGeom>
          <a:ln w="19050">
            <a:solidFill>
              <a:srgbClr val="0E8FA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4605147.0" y="3291840"/>
            <a:ext cx="0.0" cy="320040"/>
          </a:xfrm>
          <a:prstGeom prst="line">
            <a:avLst/>
          </a:prstGeom>
          <a:ln w="19050">
            <a:solidFill>
              <a:srgbClr val="0E8FA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583805.0" y="2194560"/>
            <a:ext cx="0.0" cy="320040"/>
          </a:xfrm>
          <a:prstGeom prst="line">
            <a:avLst/>
          </a:prstGeom>
          <a:ln w="19050">
            <a:solidFill>
              <a:srgbClr val="E87722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7583805.0" y="3291840"/>
            <a:ext cx="0.0" cy="320040"/>
          </a:xfrm>
          <a:prstGeom prst="line">
            <a:avLst/>
          </a:prstGeom>
          <a:ln w="19050">
            <a:solidFill>
              <a:srgbClr val="E87722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562463.0" y="2194560"/>
            <a:ext cx="0.0" cy="320040"/>
          </a:xfrm>
          <a:prstGeom prst="line">
            <a:avLst/>
          </a:prstGeom>
          <a:ln w="19050">
            <a:solidFill>
              <a:srgbClr val="2D9B5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0562463.0" y="3291840"/>
            <a:ext cx="0.0" cy="320040"/>
          </a:xfrm>
          <a:prstGeom prst="line">
            <a:avLst/>
          </a:prstGeom>
          <a:ln w="19050">
            <a:solidFill>
              <a:srgbClr val="2D9B5A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978658.0" y="1805940"/>
            <a:ext cx="274320.0" cy="0"/>
          </a:xfrm>
          <a:prstGeom prst="line">
            <a:avLst/>
          </a:prstGeom>
          <a:ln w="15240">
            <a:solidFill>
              <a:srgbClr val="71809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957316.0" y="1805940"/>
            <a:ext cx="274320.0" cy="0"/>
          </a:xfrm>
          <a:prstGeom prst="line">
            <a:avLst/>
          </a:prstGeom>
          <a:ln w="15240">
            <a:solidFill>
              <a:srgbClr val="71809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8935974.0" y="1805940"/>
            <a:ext cx="274320.0" cy="0"/>
          </a:xfrm>
          <a:prstGeom prst="line">
            <a:avLst/>
          </a:prstGeom>
          <a:ln w="15240">
            <a:solidFill>
              <a:srgbClr val="71809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978658.0" y="2903220"/>
            <a:ext cx="274320.0" cy="0"/>
          </a:xfrm>
          <a:prstGeom prst="line">
            <a:avLst/>
          </a:prstGeom>
          <a:ln w="15240">
            <a:solidFill>
              <a:srgbClr val="71809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5957316.0" y="2903220"/>
            <a:ext cx="274320.0" cy="0"/>
          </a:xfrm>
          <a:prstGeom prst="line">
            <a:avLst/>
          </a:prstGeom>
          <a:ln w="15240">
            <a:solidFill>
              <a:srgbClr val="71809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8935974.0" y="2903220"/>
            <a:ext cx="274320.0" cy="0"/>
          </a:xfrm>
          <a:prstGeom prst="line">
            <a:avLst/>
          </a:prstGeom>
          <a:ln w="15240">
            <a:solidFill>
              <a:srgbClr val="71809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978658.0" y="4000500"/>
            <a:ext cx="274320.0" cy="0"/>
          </a:xfrm>
          <a:prstGeom prst="line">
            <a:avLst/>
          </a:prstGeom>
          <a:ln w="15240">
            <a:solidFill>
              <a:srgbClr val="71809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5957316.0" y="4000500"/>
            <a:ext cx="274320.0" cy="0"/>
          </a:xfrm>
          <a:prstGeom prst="line">
            <a:avLst/>
          </a:prstGeom>
          <a:ln w="15240">
            <a:solidFill>
              <a:srgbClr val="71809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935974.0" y="4000500"/>
            <a:ext cx="274320.0" cy="0"/>
          </a:xfrm>
          <a:prstGeom prst="line">
            <a:avLst/>
          </a:prstGeom>
          <a:ln w="15240">
            <a:solidFill>
              <a:srgbClr val="718096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>
          <a:xfrm>
            <a:off x="11731752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Activity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Execution flow from app open to report generation</a:t>
            </a:r>
          </a:p>
        </p:txBody>
      </p:sp>
      <p:sp>
        <p:nvSpPr>
          <p:cNvPr id="5" name="Oval 4"/>
          <p:cNvSpPr/>
          <p:nvPr/>
        </p:nvSpPr>
        <p:spPr>
          <a:xfrm>
            <a:off x="5591556" y="822960"/>
            <a:ext cx="1005840" cy="384048"/>
          </a:xfrm>
          <a:prstGeom prst="ellipse">
            <a:avLst/>
          </a:prstGeom>
          <a:solidFill>
            <a:srgbClr val="1C3557"/>
          </a:solidFill>
          <a:ln w="15240">
            <a:solidFill>
              <a:srgbClr val="1C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Start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122676" y="1325880"/>
            <a:ext cx="5943600" cy="438912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1C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7474F"/>
                </a:solidFill>
                <a:latin typeface="Calibri"/>
              </a:rPr>
              <a:t>Borrower opens app and fills application details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94476.0" y="1764792"/>
            <a:ext cx="0.0" cy="109728"/>
          </a:xfrm>
          <a:prstGeom prst="line">
            <a:avLst/>
          </a:prstGeom>
          <a:ln w="15240">
            <a:solidFill>
              <a:srgbClr val="4A556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122676" y="1874520"/>
            <a:ext cx="5943600" cy="438912"/>
          </a:xfrm>
          <a:prstGeom prst="roundRect">
            <a:avLst/>
          </a:prstGeom>
          <a:solidFill>
            <a:srgbClr val="E6F6F8"/>
          </a:solidFill>
          <a:ln w="12700">
            <a:solidFill>
              <a:srgbClr val="0E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7474F"/>
                </a:solidFill>
                <a:latin typeface="Calibri"/>
              </a:rPr>
              <a:t>System validates mandatory fields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94476.0" y="2313432"/>
            <a:ext cx="0.0" cy="109728"/>
          </a:xfrm>
          <a:prstGeom prst="line">
            <a:avLst/>
          </a:prstGeom>
          <a:ln w="15240">
            <a:solidFill>
              <a:srgbClr val="4A556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122676" y="2423160"/>
            <a:ext cx="5943600" cy="438912"/>
          </a:xfrm>
          <a:prstGeom prst="roundRect">
            <a:avLst/>
          </a:prstGeom>
          <a:solidFill>
            <a:srgbClr val="E6F6F8"/>
          </a:solidFill>
          <a:ln w="12700">
            <a:solidFill>
              <a:srgbClr val="0E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7474F"/>
                </a:solidFill>
                <a:latin typeface="Calibri"/>
              </a:rPr>
              <a:t>Start session and lock GPS + time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94476.0" y="2862072"/>
            <a:ext cx="0.0" cy="109728"/>
          </a:xfrm>
          <a:prstGeom prst="line">
            <a:avLst/>
          </a:prstGeom>
          <a:ln w="15240">
            <a:solidFill>
              <a:srgbClr val="4A556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122676" y="2971800"/>
            <a:ext cx="5943600" cy="438912"/>
          </a:xfrm>
          <a:prstGeom prst="roundRect">
            <a:avLst/>
          </a:prstGeom>
          <a:solidFill>
            <a:srgbClr val="FEF3E8"/>
          </a:solidFill>
          <a:ln w="1270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7474F"/>
                </a:solidFill>
                <a:latin typeface="Calibri"/>
              </a:rPr>
              <a:t>AI questioning module asks voice prompts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94476.0" y="3410712"/>
            <a:ext cx="0.0" cy="109728"/>
          </a:xfrm>
          <a:prstGeom prst="line">
            <a:avLst/>
          </a:prstGeom>
          <a:ln w="15240">
            <a:solidFill>
              <a:srgbClr val="4A556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122676" y="3520440"/>
            <a:ext cx="5943600" cy="438912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1C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7474F"/>
                </a:solidFill>
                <a:latin typeface="Calibri"/>
              </a:rPr>
              <a:t>Borrower captures required images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94476.0" y="3959352"/>
            <a:ext cx="0.0" cy="109728"/>
          </a:xfrm>
          <a:prstGeom prst="line">
            <a:avLst/>
          </a:prstGeom>
          <a:ln w="15240">
            <a:solidFill>
              <a:srgbClr val="4A556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122676" y="4069080"/>
            <a:ext cx="5943600" cy="438912"/>
          </a:xfrm>
          <a:prstGeom prst="roundRect">
            <a:avLst/>
          </a:prstGeom>
          <a:solidFill>
            <a:srgbClr val="E6F6F8"/>
          </a:solidFill>
          <a:ln w="12700">
            <a:solidFill>
              <a:srgbClr val="0E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7474F"/>
                </a:solidFill>
                <a:latin typeface="Calibri"/>
              </a:rPr>
              <a:t>Upload images with GPS metadata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94476.0" y="4507992"/>
            <a:ext cx="0.0" cy="109728"/>
          </a:xfrm>
          <a:prstGeom prst="line">
            <a:avLst/>
          </a:prstGeom>
          <a:ln w="15240">
            <a:solidFill>
              <a:srgbClr val="4A556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122676" y="4617720"/>
            <a:ext cx="5943600" cy="438912"/>
          </a:xfrm>
          <a:prstGeom prst="roundRect">
            <a:avLst/>
          </a:prstGeom>
          <a:solidFill>
            <a:srgbClr val="FEF0F5"/>
          </a:solidFill>
          <a:ln w="12700">
            <a:solidFill>
              <a:srgbClr val="880E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7474F"/>
                </a:solidFill>
                <a:latin typeface="Calibri"/>
              </a:rPr>
              <a:t>AI analysis: GPT-4o Vision + OCR + Face match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4476.0" y="5056632"/>
            <a:ext cx="0.0" cy="109728"/>
          </a:xfrm>
          <a:prstGeom prst="line">
            <a:avLst/>
          </a:prstGeom>
          <a:ln w="15240">
            <a:solidFill>
              <a:srgbClr val="4A556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3122676" y="5166360"/>
            <a:ext cx="5943600" cy="438912"/>
          </a:xfrm>
          <a:prstGeom prst="roundRect">
            <a:avLst/>
          </a:prstGeom>
          <a:solidFill>
            <a:srgbClr val="FFEEEE"/>
          </a:solidFill>
          <a:ln w="12700">
            <a:solidFill>
              <a:srgbClr val="E639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7474F"/>
                </a:solidFill>
                <a:latin typeface="Calibri"/>
              </a:rPr>
              <a:t>Fraud checks and signal scoring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4476.0" y="5605272"/>
            <a:ext cx="0.0" cy="109728"/>
          </a:xfrm>
          <a:prstGeom prst="line">
            <a:avLst/>
          </a:prstGeom>
          <a:ln w="15240">
            <a:solidFill>
              <a:srgbClr val="4A556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122676" y="5715000"/>
            <a:ext cx="5943600" cy="438912"/>
          </a:xfrm>
          <a:prstGeom prst="roundRect">
            <a:avLst/>
          </a:prstGeom>
          <a:solidFill>
            <a:srgbClr val="FFF0E8"/>
          </a:solidFill>
          <a:ln w="1270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7474F"/>
                </a:solidFill>
                <a:latin typeface="Calibri"/>
              </a:rPr>
              <a:t>Generate structured FI report (PDF)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094476.0" y="6153912"/>
            <a:ext cx="0.0" cy="109728"/>
          </a:xfrm>
          <a:prstGeom prst="line">
            <a:avLst/>
          </a:prstGeom>
          <a:ln w="15240">
            <a:solidFill>
              <a:srgbClr val="4A556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122676" y="6263640"/>
            <a:ext cx="5943600" cy="438912"/>
          </a:xfrm>
          <a:prstGeom prst="roundRect">
            <a:avLst/>
          </a:prstGeom>
          <a:solidFill>
            <a:srgbClr val="EBF5FF"/>
          </a:solidFill>
          <a:ln w="12700">
            <a:solidFill>
              <a:srgbClr val="1C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0">
                <a:solidFill>
                  <a:srgbClr val="37474F"/>
                </a:solidFill>
                <a:latin typeface="Calibri"/>
              </a:rPr>
              <a:t>Submit report to lender / LOS</a:t>
            </a:r>
          </a:p>
        </p:txBody>
      </p:sp>
      <p:sp>
        <p:nvSpPr>
          <p:cNvPr id="25" name="Oval 24"/>
          <p:cNvSpPr/>
          <p:nvPr/>
        </p:nvSpPr>
        <p:spPr>
          <a:xfrm>
            <a:off x="5591556" y="6885432"/>
            <a:ext cx="1005840" cy="384048"/>
          </a:xfrm>
          <a:prstGeom prst="ellipse">
            <a:avLst/>
          </a:prstGeom>
          <a:solidFill>
            <a:srgbClr val="1C3557"/>
          </a:solidFill>
          <a:ln w="15240">
            <a:solidFill>
              <a:srgbClr val="1C35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End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094476.0" y="6812280"/>
            <a:ext cx="0.0" cy="73152"/>
          </a:xfrm>
          <a:prstGeom prst="line">
            <a:avLst/>
          </a:prstGeom>
          <a:ln w="19050">
            <a:solidFill>
              <a:srgbClr val="4A5568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9157716" y="3200400"/>
            <a:ext cx="137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E87722"/>
                </a:solidFill>
                <a:latin typeface="Calibri"/>
              </a:rPr>
              <a:t>More
images?
(Yes = loop)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066276.0" y="3401568"/>
            <a:ext cx="73152.0" cy="0"/>
          </a:xfrm>
          <a:prstGeom prst="line">
            <a:avLst/>
          </a:prstGeom>
          <a:ln w="19050">
            <a:solidFill>
              <a:srgbClr val="E87722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10328148.0" y="2697480"/>
            <a:ext cx="0.0" cy="704088"/>
          </a:xfrm>
          <a:prstGeom prst="line">
            <a:avLst/>
          </a:prstGeom>
          <a:ln w="12700">
            <a:solidFill>
              <a:srgbClr val="E87722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9066276.0" y="2697480"/>
            <a:ext cx="1261872.0" cy="0"/>
          </a:xfrm>
          <a:prstGeom prst="line">
            <a:avLst/>
          </a:prstGeom>
          <a:ln w="12700">
            <a:solidFill>
              <a:srgbClr val="E87722"/>
            </a:solidFill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1731752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Tools, frameworks, and models used in the actual implementation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60120"/>
            <a:ext cx="5532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28600" y="960120"/>
            <a:ext cx="5532120" cy="502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05156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C3557"/>
                </a:solidFill>
                <a:latin typeface="Calibri"/>
              </a:rPr>
              <a:t>Image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362456"/>
            <a:ext cx="5257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Calibri"/>
              </a:rPr>
              <a:t>GPT-4o Vision for object detection, scene classification, property quality, and income level assessment from photos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97880" y="960120"/>
            <a:ext cx="5532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97880" y="960120"/>
            <a:ext cx="5532120" cy="50292"/>
          </a:xfrm>
          <a:prstGeom prst="rect">
            <a:avLst/>
          </a:prstGeom>
          <a:solidFill>
            <a:srgbClr val="0E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35040" y="105156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E8FA8"/>
                </a:solidFill>
                <a:latin typeface="Calibri"/>
              </a:rPr>
              <a:t>PAN Card OCR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35040" y="1362456"/>
            <a:ext cx="5257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Calibri"/>
              </a:rPr>
              <a:t>GPT-4o Vision (primary) + AWS Textract (fallback) for PAN number, name, father's name, and DOB extraction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8600" y="2148840"/>
            <a:ext cx="5532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8600" y="2148840"/>
            <a:ext cx="5532120" cy="5029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24028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65100"/>
                </a:solidFill>
                <a:latin typeface="Calibri"/>
              </a:rPr>
              <a:t>Face Verification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551176"/>
            <a:ext cx="5257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Calibri"/>
              </a:rPr>
              <a:t>AWS Rekognition — CompareFaces API to match borrower's selfie against PAN card photograph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97880" y="2148840"/>
            <a:ext cx="5532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897880" y="2148840"/>
            <a:ext cx="5532120" cy="502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0" y="224028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E7D32"/>
                </a:solidFill>
                <a:latin typeface="Calibri"/>
              </a:rPr>
              <a:t>Speech-to-Text / TTS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551176"/>
            <a:ext cx="5257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Calibri"/>
              </a:rPr>
              <a:t>AWS Transcribe for voice answer capture; AWS Polly for question audio playback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" y="3337560"/>
            <a:ext cx="5532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28600" y="3337560"/>
            <a:ext cx="5532120" cy="50292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42900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1C3557"/>
                </a:solidFill>
                <a:latin typeface="Calibri"/>
              </a:rPr>
              <a:t>Mobile Web App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3739896"/>
            <a:ext cx="5257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Calibri"/>
              </a:rPr>
              <a:t>HTML5 + TypeScript + Vite; WebSocket API, MediaDevices API (camera/mic), GPS Geolocation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97880" y="3337560"/>
            <a:ext cx="5532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897880" y="3337560"/>
            <a:ext cx="5532120" cy="50292"/>
          </a:xfrm>
          <a:prstGeom prst="rect">
            <a:avLst/>
          </a:prstGeom>
          <a:solidFill>
            <a:srgbClr val="0E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342900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0E8FA8"/>
                </a:solidFill>
                <a:latin typeface="Calibri"/>
              </a:rPr>
              <a:t>Backend Server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35040" y="3739896"/>
            <a:ext cx="5257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Calibri"/>
              </a:rPr>
              <a:t>Python 3.9+ · FastAPI · uvicorn; WebSocket session conductor for real-time Q&amp;A and photo guidance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28600" y="4526280"/>
            <a:ext cx="5532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28600" y="4526280"/>
            <a:ext cx="5532120" cy="50292"/>
          </a:xfrm>
          <a:prstGeom prst="rect">
            <a:avLst/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5760" y="461772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E65100"/>
                </a:solidFill>
                <a:latin typeface="Calibri"/>
              </a:rPr>
              <a:t>Report Generation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4928616"/>
            <a:ext cx="5257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Calibri"/>
              </a:rPr>
              <a:t>ReportLab PDF; pdfplumber for bank statement analysis; Google Maps Geocoding for GPS reverse lookup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897880" y="4526280"/>
            <a:ext cx="5532120" cy="10515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897880" y="4526280"/>
            <a:ext cx="5532120" cy="5029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035040" y="461772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>
                <a:solidFill>
                  <a:srgbClr val="2E7D32"/>
                </a:solidFill>
                <a:latin typeface="Calibri"/>
              </a:rPr>
              <a:t>Deployment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4928616"/>
            <a:ext cx="5257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A5568"/>
                </a:solidFill>
                <a:latin typeface="Calibri"/>
              </a:rPr>
              <a:t>AWS EC2 (Ubuntu 22.04); live at dev.videocx.io/fi/ — tested with real loan application sessions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731752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Results &amp; Performance Metrics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Evaluated on 10 sessions — live deployment at dev.videocx.io/fi/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" y="914400"/>
            <a:ext cx="11731752" cy="685800"/>
          </a:xfrm>
          <a:prstGeom prst="roundRect">
            <a:avLst/>
          </a:prstGeom>
          <a:solidFill>
            <a:srgbClr val="EBF5FF"/>
          </a:solidFill>
          <a:ln w="19050">
            <a:solidFill>
              <a:srgbClr val="0E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78408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1C3557"/>
                </a:solidFill>
                <a:latin typeface="Calibri"/>
              </a:rPr>
              <a:t>Average Session Duration:  12.4 minutes    vs    3 – 7 days  (manual field visit)  →  99% reduction in turnaround 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737360"/>
            <a:ext cx="11731752" cy="38404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783080"/>
            <a:ext cx="5303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783080"/>
            <a:ext cx="2926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AI System (This Project)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06840" y="1783080"/>
            <a:ext cx="2834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Calibri"/>
              </a:rPr>
              <a:t>Manual Process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8600" y="2121408"/>
            <a:ext cx="11731752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21284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C3557"/>
                </a:solidFill>
                <a:latin typeface="Calibri"/>
              </a:rPr>
              <a:t>Session completion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221284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D9B5A"/>
                </a:solidFill>
                <a:latin typeface="Calibri"/>
              </a:rPr>
              <a:t>90%  (9 / 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221284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4A5568"/>
                </a:solidFill>
                <a:latin typeface="Calibri"/>
              </a:rPr>
              <a:t>~70%  (weather / access)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8600" y="2615184"/>
            <a:ext cx="117317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70662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C3557"/>
                </a:solidFill>
                <a:latin typeface="Calibri"/>
              </a:rPr>
              <a:t>Photo capture success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270662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D9B5A"/>
                </a:solidFill>
                <a:latin typeface="Calibri"/>
              </a:rPr>
              <a:t>94.4%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06840" y="27066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4A5568"/>
                </a:solidFill>
                <a:latin typeface="Calibri"/>
              </a:rPr>
              <a:t>Not tracked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8600" y="3108960"/>
            <a:ext cx="11731752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2004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C3557"/>
                </a:solidFill>
                <a:latin typeface="Calibri"/>
              </a:rPr>
              <a:t>PAN OCR success (GPT-4o)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3200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D9B5A"/>
                </a:solidFill>
                <a:latin typeface="Calibri"/>
              </a:rPr>
              <a:t>80%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3200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4A5568"/>
                </a:solidFill>
                <a:latin typeface="Calibri"/>
              </a:rPr>
              <a:t>N/A  (manual)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28600" y="3602736"/>
            <a:ext cx="117317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694176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C3557"/>
                </a:solidFill>
                <a:latin typeface="Calibri"/>
              </a:rPr>
              <a:t>Face match detection rate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369417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D9B5A"/>
                </a:solidFill>
                <a:latin typeface="Calibri"/>
              </a:rPr>
              <a:t>70%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06840" y="3694176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4A5568"/>
                </a:solidFill>
                <a:latin typeface="Calibri"/>
              </a:rPr>
              <a:t>N/A  (human eye)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4096512"/>
            <a:ext cx="11731752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187952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C3557"/>
                </a:solidFill>
                <a:latin typeface="Calibri"/>
              </a:rPr>
              <a:t>GPS location capture rate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52160" y="418795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D9B5A"/>
                </a:solidFill>
                <a:latin typeface="Calibri"/>
              </a:rPr>
              <a:t>90%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40" y="4187952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4A5568"/>
                </a:solidFill>
                <a:latin typeface="Calibri"/>
              </a:rPr>
              <a:t>N/A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28600" y="4590288"/>
            <a:ext cx="11731752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46817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C3557"/>
                </a:solidFill>
                <a:latin typeface="Calibri"/>
              </a:rPr>
              <a:t>AI report generation rate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681728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D9B5A"/>
                </a:solidFill>
                <a:latin typeface="Calibri"/>
              </a:rPr>
              <a:t>100%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06840" y="4681728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4A5568"/>
                </a:solidFill>
                <a:latin typeface="Calibri"/>
              </a:rPr>
              <a:t>Manual only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28600" y="5084064"/>
            <a:ext cx="11731752" cy="47548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5175504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1C3557"/>
                </a:solidFill>
                <a:latin typeface="Calibri"/>
              </a:rPr>
              <a:t>Q&amp;A transcription accuracy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852160" y="517550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2D9B5A"/>
                </a:solidFill>
                <a:latin typeface="Calibri"/>
              </a:rPr>
              <a:t>85%  (expert review)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517550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4A5568"/>
                </a:solidFill>
                <a:latin typeface="Calibri"/>
              </a:rPr>
              <a:t>~95%  (human agent)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731752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Project Scope &amp; 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943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18096"/>
                </a:solidFill>
                <a:latin typeface="Calibri"/>
              </a:rPr>
              <a:t>A complete, deployed proof of concept grounded in a real lending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68680"/>
            <a:ext cx="6035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8FA8"/>
                </a:solidFill>
                <a:latin typeface="Calibri"/>
              </a:rPr>
              <a:t>Project Scope — What Was Built</a:t>
            </a:r>
          </a:p>
        </p:txBody>
      </p:sp>
      <p:sp>
        <p:nvSpPr>
          <p:cNvPr id="6" name="Oval 5"/>
          <p:cNvSpPr/>
          <p:nvPr/>
        </p:nvSpPr>
        <p:spPr>
          <a:xfrm>
            <a:off x="292608" y="1261872"/>
            <a:ext cx="201168" cy="201168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23444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Guided image capture flow for home/residence verification with dynamic property-based photo prompts</a:t>
            </a:r>
          </a:p>
        </p:txBody>
      </p:sp>
      <p:sp>
        <p:nvSpPr>
          <p:cNvPr id="8" name="Oval 7"/>
          <p:cNvSpPr/>
          <p:nvPr/>
        </p:nvSpPr>
        <p:spPr>
          <a:xfrm>
            <a:off x="292608" y="1792224"/>
            <a:ext cx="201168" cy="201168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76479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Real-time WebSocket session with voice Q&amp;A (AWS Transcribe), TTS (AWS Polly), and live photo review</a:t>
            </a:r>
          </a:p>
        </p:txBody>
      </p:sp>
      <p:sp>
        <p:nvSpPr>
          <p:cNvPr id="10" name="Oval 9"/>
          <p:cNvSpPr/>
          <p:nvPr/>
        </p:nvSpPr>
        <p:spPr>
          <a:xfrm>
            <a:off x="292608" y="2322576"/>
            <a:ext cx="201168" cy="201168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295144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GPT-4o Vision analysis of all captured photos for property quality, income indicators, and scene classification</a:t>
            </a:r>
          </a:p>
        </p:txBody>
      </p:sp>
      <p:sp>
        <p:nvSpPr>
          <p:cNvPr id="12" name="Oval 11"/>
          <p:cNvSpPr/>
          <p:nvPr/>
        </p:nvSpPr>
        <p:spPr>
          <a:xfrm>
            <a:off x="292608" y="2852928"/>
            <a:ext cx="201168" cy="201168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2825496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PAN card OCR (GPT-4o + Textract) + face match (AWS Rekognition) + name cross-check</a:t>
            </a:r>
          </a:p>
        </p:txBody>
      </p:sp>
      <p:sp>
        <p:nvSpPr>
          <p:cNvPr id="14" name="Oval 13"/>
          <p:cNvSpPr/>
          <p:nvPr/>
        </p:nvSpPr>
        <p:spPr>
          <a:xfrm>
            <a:off x="292608" y="3383280"/>
            <a:ext cx="201168" cy="201168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355848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GPS consistency validation using haversine distance across all captured photos</a:t>
            </a:r>
          </a:p>
        </p:txBody>
      </p:sp>
      <p:sp>
        <p:nvSpPr>
          <p:cNvPr id="16" name="Oval 15"/>
          <p:cNvSpPr/>
          <p:nvPr/>
        </p:nvSpPr>
        <p:spPr>
          <a:xfrm>
            <a:off x="292608" y="3913632"/>
            <a:ext cx="201168" cy="201168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88620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Automated PDF credit report with CIBIL score, credit analysis, and bank statement income analysis</a:t>
            </a:r>
          </a:p>
        </p:txBody>
      </p:sp>
      <p:sp>
        <p:nvSpPr>
          <p:cNvPr id="18" name="Oval 17"/>
          <p:cNvSpPr/>
          <p:nvPr/>
        </p:nvSpPr>
        <p:spPr>
          <a:xfrm>
            <a:off x="292608" y="4443984"/>
            <a:ext cx="201168" cy="201168"/>
          </a:xfrm>
          <a:prstGeom prst="ellipse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416552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4A5568"/>
                </a:solidFill>
                <a:latin typeface="Calibri"/>
              </a:rPr>
              <a:t>Live deployment on AWS EC2 — tested at dev.videocx.io/fi/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868680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8FA8"/>
                </a:solidFill>
                <a:latin typeface="Calibri"/>
              </a:rPr>
              <a:t>Skills Developed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1261872"/>
            <a:ext cx="256032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75120" y="1261872"/>
            <a:ext cx="2560320" cy="45720"/>
          </a:xfrm>
          <a:prstGeom prst="rect">
            <a:avLst/>
          </a:prstGeom>
          <a:solidFill>
            <a:srgbClr val="1C35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784848" y="135331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3557"/>
                </a:solidFill>
                <a:latin typeface="Calibri"/>
              </a:rPr>
              <a:t>Computer Vision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166420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A5568"/>
                </a:solidFill>
                <a:latin typeface="Calibri"/>
              </a:rPr>
              <a:t>GPT-4o Vision, AWS Textract, Rekognition, image analysis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72600" y="1261872"/>
            <a:ext cx="256032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372600" y="1261872"/>
            <a:ext cx="2560320" cy="45720"/>
          </a:xfrm>
          <a:prstGeom prst="rect">
            <a:avLst/>
          </a:prstGeom>
          <a:solidFill>
            <a:srgbClr val="0E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82328" y="135331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E8FA8"/>
                </a:solidFill>
                <a:latin typeface="Calibri"/>
              </a:rPr>
              <a:t>Applied ML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82328" y="166420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A5568"/>
                </a:solidFill>
                <a:latin typeface="Calibri"/>
              </a:rPr>
              <a:t>Prompt engineering, model evaluation, error analysis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75120" y="2450592"/>
            <a:ext cx="256032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75120" y="2450592"/>
            <a:ext cx="2560320" cy="45720"/>
          </a:xfrm>
          <a:prstGeom prst="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84848" y="254203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87722"/>
                </a:solidFill>
                <a:latin typeface="Calibri"/>
              </a:rPr>
              <a:t>Real-world AI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84848" y="28529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A5568"/>
                </a:solidFill>
                <a:latin typeface="Calibri"/>
              </a:rPr>
              <a:t>Fraud detection use case, explainability, workflow design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72600" y="2450592"/>
            <a:ext cx="2560320" cy="100584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9372600" y="2450592"/>
            <a:ext cx="2560320" cy="45720"/>
          </a:xfrm>
          <a:prstGeom prst="rect">
            <a:avLst/>
          </a:prstGeom>
          <a:solidFill>
            <a:srgbClr val="2D9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482328" y="2542032"/>
            <a:ext cx="2331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2D9B5A"/>
                </a:solidFill>
                <a:latin typeface="Calibri"/>
              </a:rPr>
              <a:t>Full Stack Dev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82328" y="2852928"/>
            <a:ext cx="2331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4A5568"/>
                </a:solidFill>
                <a:latin typeface="Calibri"/>
              </a:rPr>
              <a:t>TypeScript, FastAPI, WebSocket, AWS services, deployment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3639312"/>
            <a:ext cx="5212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8FA8"/>
                </a:solidFill>
                <a:latin typeface="Calibri"/>
              </a:rPr>
              <a:t>Deliverables</a:t>
            </a:r>
          </a:p>
        </p:txBody>
      </p:sp>
      <p:sp>
        <p:nvSpPr>
          <p:cNvPr id="38" name="Oval 37"/>
          <p:cNvSpPr/>
          <p:nvPr/>
        </p:nvSpPr>
        <p:spPr>
          <a:xfrm>
            <a:off x="6693408" y="4041648"/>
            <a:ext cx="201168" cy="201168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995160" y="4023360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Calibri"/>
              </a:rPr>
              <a:t>Live deployed system (dev.videocx.io/fi/)</a:t>
            </a:r>
          </a:p>
        </p:txBody>
      </p:sp>
      <p:sp>
        <p:nvSpPr>
          <p:cNvPr id="40" name="Oval 39"/>
          <p:cNvSpPr/>
          <p:nvPr/>
        </p:nvSpPr>
        <p:spPr>
          <a:xfrm>
            <a:off x="6693408" y="4517136"/>
            <a:ext cx="201168" cy="201168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995160" y="4498848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Calibri"/>
              </a:rPr>
              <a:t>PDF credit report generator</a:t>
            </a:r>
          </a:p>
        </p:txBody>
      </p:sp>
      <p:sp>
        <p:nvSpPr>
          <p:cNvPr id="42" name="Oval 41"/>
          <p:cNvSpPr/>
          <p:nvPr/>
        </p:nvSpPr>
        <p:spPr>
          <a:xfrm>
            <a:off x="6693408" y="4992624"/>
            <a:ext cx="201168" cy="201168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995160" y="4974336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Calibri"/>
              </a:rPr>
              <a:t>Auditor review portal</a:t>
            </a:r>
          </a:p>
        </p:txBody>
      </p:sp>
      <p:sp>
        <p:nvSpPr>
          <p:cNvPr id="44" name="Oval 43"/>
          <p:cNvSpPr/>
          <p:nvPr/>
        </p:nvSpPr>
        <p:spPr>
          <a:xfrm>
            <a:off x="6693408" y="5468112"/>
            <a:ext cx="201168" cy="201168"/>
          </a:xfrm>
          <a:prstGeom prst="ellipse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995160" y="5449824"/>
            <a:ext cx="4754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A5568"/>
                </a:solidFill>
                <a:latin typeface="Calibri"/>
              </a:rPr>
              <a:t>Final demo &amp; project report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731752" y="6601968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71809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E8F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445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E8FA8"/>
                </a:solidFill>
                <a:latin typeface="Calibri"/>
              </a:rPr>
              <a:t>AI-Based Visual Intelligence for Digital Field Investigation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108960"/>
            <a:ext cx="3959352" cy="22860"/>
          </a:xfrm>
          <a:prstGeom prst="rect">
            <a:avLst/>
          </a:prstGeom>
          <a:solidFill>
            <a:srgbClr val="2A4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3291840"/>
            <a:ext cx="3566160" cy="13716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0E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3832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8FA8"/>
                </a:solidFill>
                <a:latin typeface="Calibri"/>
              </a:rPr>
              <a:t>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6732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0"/>
                </a:solidFill>
                <a:latin typeface="Calibri"/>
              </a:rPr>
              <a:t>Manual field visits are slow, expensive, inconsistent, and fraud-prone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78224" y="3291840"/>
            <a:ext cx="3566160" cy="13716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0E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61104" y="33832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8FA8"/>
                </a:solidFill>
                <a:latin typeface="Calibri"/>
              </a:rPr>
              <a:t>Solution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61104" y="376732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0"/>
                </a:solidFill>
                <a:latin typeface="Calibri"/>
              </a:rPr>
              <a:t>Guided image capture + AI analysis replaces the physical field visit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82128" y="3291840"/>
            <a:ext cx="3566160" cy="1371600"/>
          </a:xfrm>
          <a:prstGeom prst="roundRect">
            <a:avLst/>
          </a:prstGeom>
          <a:solidFill>
            <a:srgbClr val="1E3A5F"/>
          </a:solidFill>
          <a:ln w="12700">
            <a:solidFill>
              <a:srgbClr val="0E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65008" y="338328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E8FA8"/>
                </a:solidFill>
                <a:latin typeface="Calibri"/>
              </a:rP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65008" y="3767328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CBD5E0"/>
                </a:solidFill>
                <a:latin typeface="Calibri"/>
              </a:rPr>
              <a:t>Explainable fraud flags and structured digital credit report for lenders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92040"/>
            <a:ext cx="112745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718096"/>
                </a:solidFill>
                <a:latin typeface="Calibri"/>
              </a:rPr>
              <a:t>Presented by: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66360"/>
            <a:ext cx="1127455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Mr. Shubham Abaso Nale  ·  Mr. Sarvesh Vijay Jadhav  ·  Mr. Suyash Rajendra Kale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577840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718096"/>
                </a:solidFill>
                <a:latin typeface="Calibri"/>
              </a:rPr>
              <a:t>Guide: Prof. C. K. Saste  |  Dept. of CSE, AGCE Satara  |  DBATU, Lonere  |  2025–26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22876" y="5989320"/>
            <a:ext cx="2743200" cy="548640"/>
          </a:xfrm>
          <a:prstGeom prst="roundRect">
            <a:avLst/>
          </a:prstGeom>
          <a:solidFill>
            <a:srgbClr val="0E8FA8"/>
          </a:solidFill>
          <a:ln w="15240">
            <a:solidFill>
              <a:srgbClr val="0E8F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